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22" r:id="rId1"/>
  </p:sldMasterIdLst>
  <p:notesMasterIdLst>
    <p:notesMasterId r:id="rId10"/>
  </p:notesMasterIdLst>
  <p:sldIdLst>
    <p:sldId id="256" r:id="rId2"/>
    <p:sldId id="257" r:id="rId3"/>
    <p:sldId id="264" r:id="rId4"/>
    <p:sldId id="259" r:id="rId5"/>
    <p:sldId id="265" r:id="rId6"/>
    <p:sldId id="262" r:id="rId7"/>
    <p:sldId id="258" r:id="rId8"/>
    <p:sldId id="263" r:id="rId9"/>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16" autoAdjust="0"/>
    <p:restoredTop sz="94660"/>
  </p:normalViewPr>
  <p:slideViewPr>
    <p:cSldViewPr snapToGrid="0">
      <p:cViewPr varScale="1">
        <p:scale>
          <a:sx n="101" d="100"/>
          <a:sy n="101" d="100"/>
        </p:scale>
        <p:origin x="98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238FAE-611F-49E1-BD48-06DEB10A3704}" type="datetimeFigureOut">
              <a:rPr lang="fr-FR" smtClean="0"/>
              <a:t>02/08/2026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481F13-0FAF-44AD-81B5-1BFA59492C44}" type="slidenum">
              <a:rPr lang="fr-FR" smtClean="0"/>
              <a:t>‹N°›</a:t>
            </a:fld>
            <a:endParaRPr lang="fr-FR"/>
          </a:p>
        </p:txBody>
      </p:sp>
    </p:spTree>
    <p:extLst>
      <p:ext uri="{BB962C8B-B14F-4D97-AF65-F5344CB8AC3E}">
        <p14:creationId xmlns:p14="http://schemas.microsoft.com/office/powerpoint/2010/main" val="3294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4481F13-0FAF-44AD-81B5-1BFA59492C44}" type="slidenum">
              <a:rPr lang="fr-FR" smtClean="0"/>
              <a:t>4</a:t>
            </a:fld>
            <a:endParaRPr lang="fr-FR"/>
          </a:p>
        </p:txBody>
      </p:sp>
    </p:spTree>
    <p:extLst>
      <p:ext uri="{BB962C8B-B14F-4D97-AF65-F5344CB8AC3E}">
        <p14:creationId xmlns:p14="http://schemas.microsoft.com/office/powerpoint/2010/main" val="2363776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611DEE-5BA6-489A-8D38-FD8CCCDB67C9}"/>
              </a:ext>
            </a:extLst>
          </p:cNvPr>
          <p:cNvSpPr>
            <a:spLocks noGrp="1"/>
          </p:cNvSpPr>
          <p:nvPr>
            <p:ph type="ctrTitle"/>
          </p:nvPr>
        </p:nvSpPr>
        <p:spPr>
          <a:xfrm>
            <a:off x="1143000" y="841772"/>
            <a:ext cx="6858000" cy="1790700"/>
          </a:xfrm>
        </p:spPr>
        <p:txBody>
          <a:bodyPr anchor="b"/>
          <a:lstStyle>
            <a:lvl1pPr algn="ctr">
              <a:defRPr sz="4500"/>
            </a:lvl1pPr>
          </a:lstStyle>
          <a:p>
            <a:r>
              <a:rPr lang="fr-FR"/>
              <a:t>Modifiez le style du titre</a:t>
            </a:r>
          </a:p>
        </p:txBody>
      </p:sp>
      <p:sp>
        <p:nvSpPr>
          <p:cNvPr id="3" name="Sous-titre 2">
            <a:extLst>
              <a:ext uri="{FF2B5EF4-FFF2-40B4-BE49-F238E27FC236}">
                <a16:creationId xmlns:a16="http://schemas.microsoft.com/office/drawing/2014/main" id="{C99235E6-1C2F-4972-A14E-6D804FA87A4B}"/>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CD39501-EC70-47D8-B23E-7BDE904A1C91}"/>
              </a:ext>
            </a:extLst>
          </p:cNvPr>
          <p:cNvSpPr>
            <a:spLocks noGrp="1"/>
          </p:cNvSpPr>
          <p:nvPr>
            <p:ph type="dt" sz="half" idx="10"/>
          </p:nvPr>
        </p:nvSpPr>
        <p:spPr/>
        <p:txBody>
          <a:bodyPr/>
          <a:lstStyle/>
          <a:p>
            <a:fld id="{48A87A34-81AB-432B-8DAE-1953F412C126}" type="datetimeFigureOut">
              <a:rPr lang="en-US" smtClean="0"/>
              <a:t>8/2/2026</a:t>
            </a:fld>
            <a:endParaRPr lang="en-US" dirty="0"/>
          </a:p>
        </p:txBody>
      </p:sp>
      <p:sp>
        <p:nvSpPr>
          <p:cNvPr id="5" name="Espace réservé du pied de page 4">
            <a:extLst>
              <a:ext uri="{FF2B5EF4-FFF2-40B4-BE49-F238E27FC236}">
                <a16:creationId xmlns:a16="http://schemas.microsoft.com/office/drawing/2014/main" id="{BA4D20A0-D6EE-4B1F-BBF8-34D806ACFC70}"/>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0CEC817C-9F15-4B37-8C77-6E17F4FE8B3C}"/>
              </a:ext>
            </a:extLst>
          </p:cNvPr>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86129993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0B0B7E-9E44-4BE0-878B-9EDEE9CB6FC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FB3AA99-9ED2-46E3-9160-139F63EAAC9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3BDAC57-C453-489B-B3F3-E1A7407720E2}"/>
              </a:ext>
            </a:extLst>
          </p:cNvPr>
          <p:cNvSpPr>
            <a:spLocks noGrp="1"/>
          </p:cNvSpPr>
          <p:nvPr>
            <p:ph type="dt" sz="half" idx="10"/>
          </p:nvPr>
        </p:nvSpPr>
        <p:spPr/>
        <p:txBody>
          <a:bodyPr/>
          <a:lstStyle/>
          <a:p>
            <a:fld id="{48A87A34-81AB-432B-8DAE-1953F412C126}" type="datetimeFigureOut">
              <a:rPr lang="en-US" smtClean="0"/>
              <a:t>8/2/2026</a:t>
            </a:fld>
            <a:endParaRPr lang="en-US" dirty="0"/>
          </a:p>
        </p:txBody>
      </p:sp>
      <p:sp>
        <p:nvSpPr>
          <p:cNvPr id="5" name="Espace réservé du pied de page 4">
            <a:extLst>
              <a:ext uri="{FF2B5EF4-FFF2-40B4-BE49-F238E27FC236}">
                <a16:creationId xmlns:a16="http://schemas.microsoft.com/office/drawing/2014/main" id="{52603A0A-C1EF-4BA6-AB21-A6C971AEEE87}"/>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82150046-0D1D-4008-8A32-0A046BC5AF39}"/>
              </a:ext>
            </a:extLst>
          </p:cNvPr>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12744293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6C6C31-2C90-4E11-9F78-ED9D4A4002B0}"/>
              </a:ext>
            </a:extLst>
          </p:cNvPr>
          <p:cNvSpPr>
            <a:spLocks noGrp="1"/>
          </p:cNvSpPr>
          <p:nvPr>
            <p:ph type="title"/>
          </p:nvPr>
        </p:nvSpPr>
        <p:spPr>
          <a:xfrm>
            <a:off x="623888" y="1282304"/>
            <a:ext cx="7886700" cy="2139553"/>
          </a:xfrm>
        </p:spPr>
        <p:txBody>
          <a:bodyPr anchor="b"/>
          <a:lstStyle>
            <a:lvl1pPr>
              <a:defRPr sz="4500"/>
            </a:lvl1pPr>
          </a:lstStyle>
          <a:p>
            <a:r>
              <a:rPr lang="fr-FR"/>
              <a:t>Modifiez le style du titre</a:t>
            </a:r>
          </a:p>
        </p:txBody>
      </p:sp>
      <p:sp>
        <p:nvSpPr>
          <p:cNvPr id="3" name="Espace réservé du texte 2">
            <a:extLst>
              <a:ext uri="{FF2B5EF4-FFF2-40B4-BE49-F238E27FC236}">
                <a16:creationId xmlns:a16="http://schemas.microsoft.com/office/drawing/2014/main" id="{596B9242-BD6B-4384-AD55-C06050256CC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C2D1987-9D74-424E-BD8D-E1CA9096AF68}"/>
              </a:ext>
            </a:extLst>
          </p:cNvPr>
          <p:cNvSpPr>
            <a:spLocks noGrp="1"/>
          </p:cNvSpPr>
          <p:nvPr>
            <p:ph type="dt" sz="half" idx="10"/>
          </p:nvPr>
        </p:nvSpPr>
        <p:spPr/>
        <p:txBody>
          <a:bodyPr/>
          <a:lstStyle/>
          <a:p>
            <a:fld id="{48A87A34-81AB-432B-8DAE-1953F412C126}" type="datetimeFigureOut">
              <a:rPr lang="en-US" smtClean="0"/>
              <a:t>8/2/2026</a:t>
            </a:fld>
            <a:endParaRPr lang="en-US" dirty="0"/>
          </a:p>
        </p:txBody>
      </p:sp>
      <p:sp>
        <p:nvSpPr>
          <p:cNvPr id="5" name="Espace réservé du pied de page 4">
            <a:extLst>
              <a:ext uri="{FF2B5EF4-FFF2-40B4-BE49-F238E27FC236}">
                <a16:creationId xmlns:a16="http://schemas.microsoft.com/office/drawing/2014/main" id="{CAA03206-A0B0-4A0E-83E5-7B74D007D5E4}"/>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7FDC8CB9-783C-4520-89CF-186E745AD381}"/>
              </a:ext>
            </a:extLst>
          </p:cNvPr>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5094579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AD6D57-83C3-4D2B-B8FD-76BA1DAD38D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93AD74D-31F2-4B55-92BB-386F4E6DDB66}"/>
              </a:ext>
            </a:extLst>
          </p:cNvPr>
          <p:cNvSpPr>
            <a:spLocks noGrp="1"/>
          </p:cNvSpPr>
          <p:nvPr>
            <p:ph sz="half" idx="1"/>
          </p:nvPr>
        </p:nvSpPr>
        <p:spPr>
          <a:xfrm>
            <a:off x="6286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39A31B2-3C2D-47AB-A8A1-1FB81BE78D26}"/>
              </a:ext>
            </a:extLst>
          </p:cNvPr>
          <p:cNvSpPr>
            <a:spLocks noGrp="1"/>
          </p:cNvSpPr>
          <p:nvPr>
            <p:ph sz="half" idx="2"/>
          </p:nvPr>
        </p:nvSpPr>
        <p:spPr>
          <a:xfrm>
            <a:off x="46291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A923DAC-A778-42F6-B7C6-F70B22456AA0}"/>
              </a:ext>
            </a:extLst>
          </p:cNvPr>
          <p:cNvSpPr>
            <a:spLocks noGrp="1"/>
          </p:cNvSpPr>
          <p:nvPr>
            <p:ph type="dt" sz="half" idx="10"/>
          </p:nvPr>
        </p:nvSpPr>
        <p:spPr/>
        <p:txBody>
          <a:bodyPr/>
          <a:lstStyle/>
          <a:p>
            <a:fld id="{48A87A34-81AB-432B-8DAE-1953F412C126}" type="datetimeFigureOut">
              <a:rPr lang="en-US" smtClean="0"/>
              <a:t>8/2/2026</a:t>
            </a:fld>
            <a:endParaRPr lang="en-US" dirty="0"/>
          </a:p>
        </p:txBody>
      </p:sp>
      <p:sp>
        <p:nvSpPr>
          <p:cNvPr id="6" name="Espace réservé du pied de page 5">
            <a:extLst>
              <a:ext uri="{FF2B5EF4-FFF2-40B4-BE49-F238E27FC236}">
                <a16:creationId xmlns:a16="http://schemas.microsoft.com/office/drawing/2014/main" id="{8E8A0F41-5DF9-4978-A6DB-38AE2D3BB734}"/>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6CE47424-1795-4D1A-A014-76E850FEAF52}"/>
              </a:ext>
            </a:extLst>
          </p:cNvPr>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75425115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766D8B-1D82-49CA-A8BC-9F59B03E3879}"/>
              </a:ext>
            </a:extLst>
          </p:cNvPr>
          <p:cNvSpPr>
            <a:spLocks noGrp="1"/>
          </p:cNvSpPr>
          <p:nvPr>
            <p:ph type="title"/>
          </p:nvPr>
        </p:nvSpPr>
        <p:spPr>
          <a:xfrm>
            <a:off x="629841" y="273844"/>
            <a:ext cx="7886700" cy="994172"/>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4869A5F-8C9A-4805-B92B-E0CA562684F2}"/>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2200B3C-4AEC-40B8-AC95-AB25F4C03E4F}"/>
              </a:ext>
            </a:extLst>
          </p:cNvPr>
          <p:cNvSpPr>
            <a:spLocks noGrp="1"/>
          </p:cNvSpPr>
          <p:nvPr>
            <p:ph sz="half" idx="2"/>
          </p:nvPr>
        </p:nvSpPr>
        <p:spPr>
          <a:xfrm>
            <a:off x="629842" y="1878806"/>
            <a:ext cx="3868340"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611FACE-2F60-4DCA-98A5-F488C38041A7}"/>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29C6221-DEF6-476A-BAF7-7427A433D461}"/>
              </a:ext>
            </a:extLst>
          </p:cNvPr>
          <p:cNvSpPr>
            <a:spLocks noGrp="1"/>
          </p:cNvSpPr>
          <p:nvPr>
            <p:ph sz="quarter" idx="4"/>
          </p:nvPr>
        </p:nvSpPr>
        <p:spPr>
          <a:xfrm>
            <a:off x="4629150" y="1878806"/>
            <a:ext cx="3887391"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A813178-66FA-472F-B5F1-69ACA76D643C}"/>
              </a:ext>
            </a:extLst>
          </p:cNvPr>
          <p:cNvSpPr>
            <a:spLocks noGrp="1"/>
          </p:cNvSpPr>
          <p:nvPr>
            <p:ph type="dt" sz="half" idx="10"/>
          </p:nvPr>
        </p:nvSpPr>
        <p:spPr/>
        <p:txBody>
          <a:bodyPr/>
          <a:lstStyle/>
          <a:p>
            <a:fld id="{48A87A34-81AB-432B-8DAE-1953F412C126}" type="datetimeFigureOut">
              <a:rPr lang="en-US" smtClean="0"/>
              <a:t>8/2/2026</a:t>
            </a:fld>
            <a:endParaRPr lang="en-US" dirty="0"/>
          </a:p>
        </p:txBody>
      </p:sp>
      <p:sp>
        <p:nvSpPr>
          <p:cNvPr id="8" name="Espace réservé du pied de page 7">
            <a:extLst>
              <a:ext uri="{FF2B5EF4-FFF2-40B4-BE49-F238E27FC236}">
                <a16:creationId xmlns:a16="http://schemas.microsoft.com/office/drawing/2014/main" id="{A8C9FF7C-F7CA-48D2-A3CA-3EBFEAA1370C}"/>
              </a:ext>
            </a:extLst>
          </p:cNvPr>
          <p:cNvSpPr>
            <a:spLocks noGrp="1"/>
          </p:cNvSpPr>
          <p:nvPr>
            <p:ph type="ftr" sz="quarter" idx="11"/>
          </p:nvPr>
        </p:nvSpPr>
        <p:spPr/>
        <p:txBody>
          <a:bodyPr/>
          <a:lstStyle/>
          <a:p>
            <a:endParaRPr lang="en-US" dirty="0"/>
          </a:p>
        </p:txBody>
      </p:sp>
      <p:sp>
        <p:nvSpPr>
          <p:cNvPr id="9" name="Espace réservé du numéro de diapositive 8">
            <a:extLst>
              <a:ext uri="{FF2B5EF4-FFF2-40B4-BE49-F238E27FC236}">
                <a16:creationId xmlns:a16="http://schemas.microsoft.com/office/drawing/2014/main" id="{69187D36-0C94-4265-B398-BE0EE2BB41D7}"/>
              </a:ext>
            </a:extLst>
          </p:cNvPr>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89663367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360834-5BD4-4CB2-95AB-411CBF81CC7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53EFEEF-01C8-4B38-AE7F-38A516706C2E}"/>
              </a:ext>
            </a:extLst>
          </p:cNvPr>
          <p:cNvSpPr>
            <a:spLocks noGrp="1"/>
          </p:cNvSpPr>
          <p:nvPr>
            <p:ph type="dt" sz="half" idx="10"/>
          </p:nvPr>
        </p:nvSpPr>
        <p:spPr/>
        <p:txBody>
          <a:bodyPr/>
          <a:lstStyle/>
          <a:p>
            <a:fld id="{48A87A34-81AB-432B-8DAE-1953F412C126}" type="datetimeFigureOut">
              <a:rPr lang="en-US" smtClean="0"/>
              <a:t>8/2/2026</a:t>
            </a:fld>
            <a:endParaRPr lang="en-US" dirty="0"/>
          </a:p>
        </p:txBody>
      </p:sp>
      <p:sp>
        <p:nvSpPr>
          <p:cNvPr id="4" name="Espace réservé du pied de page 3">
            <a:extLst>
              <a:ext uri="{FF2B5EF4-FFF2-40B4-BE49-F238E27FC236}">
                <a16:creationId xmlns:a16="http://schemas.microsoft.com/office/drawing/2014/main" id="{0F09F65B-8631-49EB-A0AE-8AA4D7D54596}"/>
              </a:ext>
            </a:extLst>
          </p:cNvPr>
          <p:cNvSpPr>
            <a:spLocks noGrp="1"/>
          </p:cNvSpPr>
          <p:nvPr>
            <p:ph type="ftr" sz="quarter" idx="11"/>
          </p:nvPr>
        </p:nvSpPr>
        <p:spPr/>
        <p:txBody>
          <a:bodyPr/>
          <a:lstStyle/>
          <a:p>
            <a:endParaRPr lang="en-US" dirty="0"/>
          </a:p>
        </p:txBody>
      </p:sp>
      <p:sp>
        <p:nvSpPr>
          <p:cNvPr id="5" name="Espace réservé du numéro de diapositive 4">
            <a:extLst>
              <a:ext uri="{FF2B5EF4-FFF2-40B4-BE49-F238E27FC236}">
                <a16:creationId xmlns:a16="http://schemas.microsoft.com/office/drawing/2014/main" id="{B5FC34F0-7500-4006-AFD4-2ED6377F75C1}"/>
              </a:ext>
            </a:extLst>
          </p:cNvPr>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4587855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EBA918C-CBF3-4F9C-A9B3-730042C8B593}"/>
              </a:ext>
            </a:extLst>
          </p:cNvPr>
          <p:cNvSpPr>
            <a:spLocks noGrp="1"/>
          </p:cNvSpPr>
          <p:nvPr>
            <p:ph type="dt" sz="half" idx="10"/>
          </p:nvPr>
        </p:nvSpPr>
        <p:spPr/>
        <p:txBody>
          <a:bodyPr/>
          <a:lstStyle/>
          <a:p>
            <a:fld id="{48A87A34-81AB-432B-8DAE-1953F412C126}" type="datetimeFigureOut">
              <a:rPr lang="en-US" smtClean="0"/>
              <a:t>8/2/2026</a:t>
            </a:fld>
            <a:endParaRPr lang="en-US" dirty="0"/>
          </a:p>
        </p:txBody>
      </p:sp>
      <p:sp>
        <p:nvSpPr>
          <p:cNvPr id="3" name="Espace réservé du pied de page 2">
            <a:extLst>
              <a:ext uri="{FF2B5EF4-FFF2-40B4-BE49-F238E27FC236}">
                <a16:creationId xmlns:a16="http://schemas.microsoft.com/office/drawing/2014/main" id="{E1315B8B-EC38-4E59-A2DD-4F4987160C12}"/>
              </a:ext>
            </a:extLst>
          </p:cNvPr>
          <p:cNvSpPr>
            <a:spLocks noGrp="1"/>
          </p:cNvSpPr>
          <p:nvPr>
            <p:ph type="ftr" sz="quarter" idx="1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38519C9E-4F36-461A-B838-9B5500DBA693}"/>
              </a:ext>
            </a:extLst>
          </p:cNvPr>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24914360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519476-9014-4A37-B9CA-0566976BED76}"/>
              </a:ext>
            </a:extLst>
          </p:cNvPr>
          <p:cNvSpPr>
            <a:spLocks noGrp="1"/>
          </p:cNvSpPr>
          <p:nvPr>
            <p:ph type="title"/>
          </p:nvPr>
        </p:nvSpPr>
        <p:spPr>
          <a:xfrm>
            <a:off x="629841" y="342900"/>
            <a:ext cx="2949178" cy="1200150"/>
          </a:xfrm>
        </p:spPr>
        <p:txBody>
          <a:bodyPr anchor="b"/>
          <a:lstStyle>
            <a:lvl1pPr>
              <a:defRPr sz="2400"/>
            </a:lvl1pPr>
          </a:lstStyle>
          <a:p>
            <a:r>
              <a:rPr lang="fr-FR"/>
              <a:t>Modifiez le style du titre</a:t>
            </a:r>
          </a:p>
        </p:txBody>
      </p:sp>
      <p:sp>
        <p:nvSpPr>
          <p:cNvPr id="3" name="Espace réservé du contenu 2">
            <a:extLst>
              <a:ext uri="{FF2B5EF4-FFF2-40B4-BE49-F238E27FC236}">
                <a16:creationId xmlns:a16="http://schemas.microsoft.com/office/drawing/2014/main" id="{153381E7-9D08-4329-8603-8AE71B0FF60A}"/>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AD5BB8B-0130-4A75-AD09-CE8DA2BE886F}"/>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65F5D97-FDA1-43D4-B440-6B34CC84567E}"/>
              </a:ext>
            </a:extLst>
          </p:cNvPr>
          <p:cNvSpPr>
            <a:spLocks noGrp="1"/>
          </p:cNvSpPr>
          <p:nvPr>
            <p:ph type="dt" sz="half" idx="10"/>
          </p:nvPr>
        </p:nvSpPr>
        <p:spPr/>
        <p:txBody>
          <a:bodyPr/>
          <a:lstStyle/>
          <a:p>
            <a:fld id="{48A87A34-81AB-432B-8DAE-1953F412C126}" type="datetimeFigureOut">
              <a:rPr lang="en-US" smtClean="0"/>
              <a:t>8/2/2026</a:t>
            </a:fld>
            <a:endParaRPr lang="en-US" dirty="0"/>
          </a:p>
        </p:txBody>
      </p:sp>
      <p:sp>
        <p:nvSpPr>
          <p:cNvPr id="6" name="Espace réservé du pied de page 5">
            <a:extLst>
              <a:ext uri="{FF2B5EF4-FFF2-40B4-BE49-F238E27FC236}">
                <a16:creationId xmlns:a16="http://schemas.microsoft.com/office/drawing/2014/main" id="{3536713E-EF7A-47DB-9287-5D0E38A82F5E}"/>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3AABF44C-2FD4-40A9-8E68-998E97958EED}"/>
              </a:ext>
            </a:extLst>
          </p:cNvPr>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449704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8C16C4-555A-4BF1-9BCD-5DD24C151DD7}"/>
              </a:ext>
            </a:extLst>
          </p:cNvPr>
          <p:cNvSpPr>
            <a:spLocks noGrp="1"/>
          </p:cNvSpPr>
          <p:nvPr>
            <p:ph type="title"/>
          </p:nvPr>
        </p:nvSpPr>
        <p:spPr>
          <a:xfrm>
            <a:off x="629841" y="342900"/>
            <a:ext cx="2949178" cy="1200150"/>
          </a:xfrm>
        </p:spPr>
        <p:txBody>
          <a:bodyPr anchor="b"/>
          <a:lstStyle>
            <a:lvl1pPr>
              <a:defRPr sz="2400"/>
            </a:lvl1pPr>
          </a:lstStyle>
          <a:p>
            <a:r>
              <a:rPr lang="fr-FR"/>
              <a:t>Modifiez le style du titre</a:t>
            </a:r>
          </a:p>
        </p:txBody>
      </p:sp>
      <p:sp>
        <p:nvSpPr>
          <p:cNvPr id="3" name="Espace réservé pour une image  2">
            <a:extLst>
              <a:ext uri="{FF2B5EF4-FFF2-40B4-BE49-F238E27FC236}">
                <a16:creationId xmlns:a16="http://schemas.microsoft.com/office/drawing/2014/main" id="{DD778742-4A5D-49A5-A25F-772B9558B5D6}"/>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fr-FR"/>
          </a:p>
        </p:txBody>
      </p:sp>
      <p:sp>
        <p:nvSpPr>
          <p:cNvPr id="4" name="Espace réservé du texte 3">
            <a:extLst>
              <a:ext uri="{FF2B5EF4-FFF2-40B4-BE49-F238E27FC236}">
                <a16:creationId xmlns:a16="http://schemas.microsoft.com/office/drawing/2014/main" id="{51DFB01F-7341-48AA-A721-EF22876E870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AE8216D-8673-44CC-B89B-DBAFC7F7E82C}"/>
              </a:ext>
            </a:extLst>
          </p:cNvPr>
          <p:cNvSpPr>
            <a:spLocks noGrp="1"/>
          </p:cNvSpPr>
          <p:nvPr>
            <p:ph type="dt" sz="half" idx="10"/>
          </p:nvPr>
        </p:nvSpPr>
        <p:spPr/>
        <p:txBody>
          <a:bodyPr/>
          <a:lstStyle/>
          <a:p>
            <a:fld id="{48A87A34-81AB-432B-8DAE-1953F412C126}" type="datetimeFigureOut">
              <a:rPr lang="en-US" smtClean="0"/>
              <a:pPr/>
              <a:t>8/2/2026</a:t>
            </a:fld>
            <a:endParaRPr lang="en-US" dirty="0"/>
          </a:p>
        </p:txBody>
      </p:sp>
      <p:sp>
        <p:nvSpPr>
          <p:cNvPr id="6" name="Espace réservé du pied de page 5">
            <a:extLst>
              <a:ext uri="{FF2B5EF4-FFF2-40B4-BE49-F238E27FC236}">
                <a16:creationId xmlns:a16="http://schemas.microsoft.com/office/drawing/2014/main" id="{12B14476-33BD-47FB-AFC8-2A5885F9C0E8}"/>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3778C6A6-71AC-48FC-93B6-92B6A173FE33}"/>
              </a:ext>
            </a:extLst>
          </p:cNvPr>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73528904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27393F-75A1-45D4-BEA9-BB0291A61CC4}"/>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ADA20CF-B5DB-4BA5-9D09-89476187B89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C765245-230A-498F-A66A-8314AB8460E3}"/>
              </a:ext>
            </a:extLst>
          </p:cNvPr>
          <p:cNvSpPr>
            <a:spLocks noGrp="1"/>
          </p:cNvSpPr>
          <p:nvPr>
            <p:ph type="dt" sz="half" idx="10"/>
          </p:nvPr>
        </p:nvSpPr>
        <p:spPr/>
        <p:txBody>
          <a:bodyPr/>
          <a:lstStyle/>
          <a:p>
            <a:fld id="{48A87A34-81AB-432B-8DAE-1953F412C126}" type="datetimeFigureOut">
              <a:rPr lang="en-US" smtClean="0"/>
              <a:t>8/2/2026</a:t>
            </a:fld>
            <a:endParaRPr lang="en-US" dirty="0"/>
          </a:p>
        </p:txBody>
      </p:sp>
      <p:sp>
        <p:nvSpPr>
          <p:cNvPr id="5" name="Espace réservé du pied de page 4">
            <a:extLst>
              <a:ext uri="{FF2B5EF4-FFF2-40B4-BE49-F238E27FC236}">
                <a16:creationId xmlns:a16="http://schemas.microsoft.com/office/drawing/2014/main" id="{846B96F9-487E-4151-8510-331872B69BA2}"/>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ADB6FFE7-45CA-4750-839A-C616EFBFD883}"/>
              </a:ext>
            </a:extLst>
          </p:cNvPr>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5577471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8452943-BDB5-4B7B-AF85-3504B20B5AD6}"/>
              </a:ext>
            </a:extLst>
          </p:cNvPr>
          <p:cNvSpPr>
            <a:spLocks noGrp="1"/>
          </p:cNvSpPr>
          <p:nvPr>
            <p:ph type="title" orient="vert"/>
          </p:nvPr>
        </p:nvSpPr>
        <p:spPr>
          <a:xfrm>
            <a:off x="6543675" y="273844"/>
            <a:ext cx="1971675" cy="4358879"/>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E8360665-8357-49E8-9357-32A7C9EC1439}"/>
              </a:ext>
            </a:extLst>
          </p:cNvPr>
          <p:cNvSpPr>
            <a:spLocks noGrp="1"/>
          </p:cNvSpPr>
          <p:nvPr>
            <p:ph type="body" orient="vert" idx="1"/>
          </p:nvPr>
        </p:nvSpPr>
        <p:spPr>
          <a:xfrm>
            <a:off x="628650" y="273844"/>
            <a:ext cx="5800725" cy="435887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84A7A08-3FB2-453C-8F8F-6D13397A52E1}"/>
              </a:ext>
            </a:extLst>
          </p:cNvPr>
          <p:cNvSpPr>
            <a:spLocks noGrp="1"/>
          </p:cNvSpPr>
          <p:nvPr>
            <p:ph type="dt" sz="half" idx="10"/>
          </p:nvPr>
        </p:nvSpPr>
        <p:spPr/>
        <p:txBody>
          <a:bodyPr/>
          <a:lstStyle/>
          <a:p>
            <a:fld id="{48A87A34-81AB-432B-8DAE-1953F412C126}" type="datetimeFigureOut">
              <a:rPr lang="en-US" smtClean="0"/>
              <a:t>8/2/2026</a:t>
            </a:fld>
            <a:endParaRPr lang="en-US" dirty="0"/>
          </a:p>
        </p:txBody>
      </p:sp>
      <p:sp>
        <p:nvSpPr>
          <p:cNvPr id="5" name="Espace réservé du pied de page 4">
            <a:extLst>
              <a:ext uri="{FF2B5EF4-FFF2-40B4-BE49-F238E27FC236}">
                <a16:creationId xmlns:a16="http://schemas.microsoft.com/office/drawing/2014/main" id="{8DE78529-A368-44DB-A99A-365711F44941}"/>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9FE21B9A-B955-4F3F-B5AB-5D880FEA5182}"/>
              </a:ext>
            </a:extLst>
          </p:cNvPr>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1973285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714600" y="1218600"/>
            <a:ext cx="4393440" cy="208188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sp>
        <p:nvSpPr>
          <p:cNvPr id="1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351938081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09E496-8A7D-4B54-A4D9-62150ACB7CEA}"/>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1EADCEF-71D7-49FB-A022-E273082214DE}"/>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1837DFE-5E5E-44F5-B227-DB01807ED450}"/>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8A87A34-81AB-432B-8DAE-1953F412C126}" type="datetimeFigureOut">
              <a:rPr lang="en-US" smtClean="0"/>
              <a:pPr/>
              <a:t>8/2/2026</a:t>
            </a:fld>
            <a:endParaRPr lang="en-US" dirty="0"/>
          </a:p>
        </p:txBody>
      </p:sp>
      <p:sp>
        <p:nvSpPr>
          <p:cNvPr id="5" name="Espace réservé du pied de page 4">
            <a:extLst>
              <a:ext uri="{FF2B5EF4-FFF2-40B4-BE49-F238E27FC236}">
                <a16:creationId xmlns:a16="http://schemas.microsoft.com/office/drawing/2014/main" id="{752138AE-330C-4837-9957-6EBD4947751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Espace réservé du numéro de diapositive 5">
            <a:extLst>
              <a:ext uri="{FF2B5EF4-FFF2-40B4-BE49-F238E27FC236}">
                <a16:creationId xmlns:a16="http://schemas.microsoft.com/office/drawing/2014/main" id="{5EAAC66B-7BDC-401F-A270-BEC252F4F981}"/>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4138360560"/>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mailto:mAP@0.5:0.95" TargetMode="External"/><Relationship Id="rId2" Type="http://schemas.openxmlformats.org/officeDocument/2006/relationships/hyperlink" Target="mailto:mAP@0.5" TargetMode="Externa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Google Shape;474;p30"/>
          <p:cNvSpPr/>
          <p:nvPr/>
        </p:nvSpPr>
        <p:spPr>
          <a:xfrm rot="18900000">
            <a:off x="6313511" y="-2315082"/>
            <a:ext cx="6691320" cy="6691320"/>
          </a:xfrm>
          <a:custGeom>
            <a:avLst/>
            <a:gdLst>
              <a:gd name="textAreaLeft" fmla="*/ 0 w 6691320"/>
              <a:gd name="textAreaRight" fmla="*/ 6691680 w 6691320"/>
              <a:gd name="textAreaTop" fmla="*/ 0 h 6691320"/>
              <a:gd name="textAreaBottom" fmla="*/ 6691680 h 6691320"/>
            </a:gdLst>
            <a:ahLst/>
            <a:cxnLst/>
            <a:rect l="textAreaLeft" t="textAreaTop" r="textAreaRight" b="textAreaBottom"/>
            <a:pathLst>
              <a:path w="459500" h="459500">
                <a:moveTo>
                  <a:pt x="459501" y="229750"/>
                </a:moveTo>
                <a:cubicBezTo>
                  <a:pt x="459501" y="356638"/>
                  <a:pt x="356638" y="459501"/>
                  <a:pt x="229750" y="459501"/>
                </a:cubicBezTo>
                <a:cubicBezTo>
                  <a:pt x="102863" y="459501"/>
                  <a:pt x="0" y="356638"/>
                  <a:pt x="0" y="229750"/>
                </a:cubicBezTo>
                <a:cubicBezTo>
                  <a:pt x="0" y="102863"/>
                  <a:pt x="102863" y="0"/>
                  <a:pt x="229750" y="0"/>
                </a:cubicBezTo>
                <a:cubicBezTo>
                  <a:pt x="356638" y="0"/>
                  <a:pt x="459501" y="102863"/>
                  <a:pt x="459501" y="22975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 name="Google Shape;519;p30"/>
          <p:cNvSpPr/>
          <p:nvPr/>
        </p:nvSpPr>
        <p:spPr>
          <a:xfrm rot="18900000">
            <a:off x="527040" y="4255200"/>
            <a:ext cx="2228400" cy="2228400"/>
          </a:xfrm>
          <a:custGeom>
            <a:avLst/>
            <a:gdLst>
              <a:gd name="textAreaLeft" fmla="*/ 0 w 2228400"/>
              <a:gd name="textAreaRight" fmla="*/ 2228760 w 2228400"/>
              <a:gd name="textAreaTop" fmla="*/ 0 h 2228400"/>
              <a:gd name="textAreaBottom" fmla="*/ 2228760 h 2228400"/>
            </a:gdLst>
            <a:ahLst/>
            <a:cxnLst/>
            <a:rect l="textAreaLeft" t="textAreaTop" r="textAreaRight" b="textAreaBottom"/>
            <a:pathLst>
              <a:path w="459500" h="459500">
                <a:moveTo>
                  <a:pt x="459501" y="229750"/>
                </a:moveTo>
                <a:cubicBezTo>
                  <a:pt x="459501" y="356638"/>
                  <a:pt x="356638" y="459501"/>
                  <a:pt x="229750" y="459501"/>
                </a:cubicBezTo>
                <a:cubicBezTo>
                  <a:pt x="102863" y="459501"/>
                  <a:pt x="0" y="356638"/>
                  <a:pt x="0" y="229750"/>
                </a:cubicBezTo>
                <a:cubicBezTo>
                  <a:pt x="0" y="102863"/>
                  <a:pt x="102863" y="0"/>
                  <a:pt x="229750" y="0"/>
                </a:cubicBezTo>
                <a:cubicBezTo>
                  <a:pt x="356638" y="0"/>
                  <a:pt x="459501" y="102863"/>
                  <a:pt x="459501" y="22975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6" name="Google Shape;520;p30"/>
          <p:cNvGrpSpPr/>
          <p:nvPr/>
        </p:nvGrpSpPr>
        <p:grpSpPr>
          <a:xfrm>
            <a:off x="277200" y="4266360"/>
            <a:ext cx="537120" cy="519480"/>
            <a:chOff x="277200" y="4266360"/>
            <a:chExt cx="537120" cy="519480"/>
          </a:xfrm>
        </p:grpSpPr>
        <p:sp>
          <p:nvSpPr>
            <p:cNvPr id="107" name="Google Shape;521;p30"/>
            <p:cNvSpPr/>
            <p:nvPr/>
          </p:nvSpPr>
          <p:spPr>
            <a:xfrm rot="10800000">
              <a:off x="620640" y="4592160"/>
              <a:ext cx="193680" cy="193680"/>
            </a:xfrm>
            <a:custGeom>
              <a:avLst/>
              <a:gdLst>
                <a:gd name="textAreaLeft" fmla="*/ 0 w 193680"/>
                <a:gd name="textAreaRight" fmla="*/ 194040 w 193680"/>
                <a:gd name="textAreaTop" fmla="*/ 0 h 193680"/>
                <a:gd name="textAreaBottom" fmla="*/ 194040 h 193680"/>
              </a:gdLst>
              <a:ahLst/>
              <a:cxnLst/>
              <a:rect l="textAreaLeft" t="textAreaTop" r="textAreaRight" b="textAreaBottom"/>
              <a:pathLst>
                <a:path w="259461" h="259461">
                  <a:moveTo>
                    <a:pt x="259461" y="87687"/>
                  </a:moveTo>
                  <a:lnTo>
                    <a:pt x="171774" y="87687"/>
                  </a:lnTo>
                  <a:lnTo>
                    <a:pt x="171774" y="0"/>
                  </a:lnTo>
                  <a:lnTo>
                    <a:pt x="87687" y="0"/>
                  </a:lnTo>
                  <a:lnTo>
                    <a:pt x="87687" y="87687"/>
                  </a:lnTo>
                  <a:lnTo>
                    <a:pt x="0" y="87687"/>
                  </a:lnTo>
                  <a:lnTo>
                    <a:pt x="0" y="171774"/>
                  </a:lnTo>
                  <a:lnTo>
                    <a:pt x="87687" y="171774"/>
                  </a:lnTo>
                  <a:lnTo>
                    <a:pt x="87687" y="259461"/>
                  </a:lnTo>
                  <a:lnTo>
                    <a:pt x="171774" y="259461"/>
                  </a:lnTo>
                  <a:lnTo>
                    <a:pt x="171774" y="171774"/>
                  </a:lnTo>
                  <a:lnTo>
                    <a:pt x="259461" y="171774"/>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 name="Google Shape;522;p30"/>
            <p:cNvSpPr/>
            <p:nvPr/>
          </p:nvSpPr>
          <p:spPr>
            <a:xfrm rot="10800000">
              <a:off x="277200" y="4266360"/>
              <a:ext cx="266760" cy="266760"/>
            </a:xfrm>
            <a:custGeom>
              <a:avLst/>
              <a:gdLst>
                <a:gd name="textAreaLeft" fmla="*/ 0 w 266760"/>
                <a:gd name="textAreaRight" fmla="*/ 267120 w 266760"/>
                <a:gd name="textAreaTop" fmla="*/ 0 h 266760"/>
                <a:gd name="textAreaBottom" fmla="*/ 267120 h 266760"/>
              </a:gdLst>
              <a:ahLst/>
              <a:cxnLst/>
              <a:rect l="textAreaLeft" t="textAreaTop" r="textAreaRight" b="textAreaBottom"/>
              <a:pathLst>
                <a:path w="259461" h="259461">
                  <a:moveTo>
                    <a:pt x="259461" y="87687"/>
                  </a:moveTo>
                  <a:lnTo>
                    <a:pt x="171774" y="87687"/>
                  </a:lnTo>
                  <a:lnTo>
                    <a:pt x="171774" y="0"/>
                  </a:lnTo>
                  <a:lnTo>
                    <a:pt x="87687" y="0"/>
                  </a:lnTo>
                  <a:lnTo>
                    <a:pt x="87687" y="87687"/>
                  </a:lnTo>
                  <a:lnTo>
                    <a:pt x="0" y="87687"/>
                  </a:lnTo>
                  <a:lnTo>
                    <a:pt x="0" y="171774"/>
                  </a:lnTo>
                  <a:lnTo>
                    <a:pt x="87687" y="171774"/>
                  </a:lnTo>
                  <a:lnTo>
                    <a:pt x="87687" y="259461"/>
                  </a:lnTo>
                  <a:lnTo>
                    <a:pt x="171774" y="259461"/>
                  </a:lnTo>
                  <a:lnTo>
                    <a:pt x="171774" y="171774"/>
                  </a:lnTo>
                  <a:lnTo>
                    <a:pt x="259461" y="171774"/>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9" name="Rectangle 108"/>
          <p:cNvSpPr/>
          <p:nvPr/>
        </p:nvSpPr>
        <p:spPr>
          <a:xfrm>
            <a:off x="714240" y="1219320"/>
            <a:ext cx="4390560" cy="51408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77500" lnSpcReduction="20000"/>
          </a:bodyPr>
          <a:lstStyle/>
          <a:p>
            <a:pPr defTabSz="914400">
              <a:lnSpc>
                <a:spcPct val="90000"/>
              </a:lnSpc>
              <a:tabLst>
                <a:tab pos="0" algn="l"/>
              </a:tabLst>
            </a:pPr>
            <a:r>
              <a:rPr lang="fr-FR" sz="4800" dirty="0">
                <a:latin typeface="Times New Roman" panose="02020603050405020304" pitchFamily="18" charset="0"/>
                <a:cs typeface="Times New Roman" panose="02020603050405020304" pitchFamily="18" charset="0"/>
              </a:rPr>
              <a:t>Rapport</a:t>
            </a:r>
            <a:r>
              <a:rPr lang="fr-FR" sz="4800" dirty="0"/>
              <a:t> technique</a:t>
            </a:r>
            <a:endParaRPr lang="en-US" sz="4500" b="0" u="none" strike="noStrike" dirty="0">
              <a:solidFill>
                <a:srgbClr val="000000"/>
              </a:solidFill>
              <a:effectLst/>
              <a:uFillTx/>
              <a:latin typeface="OpenSymbol"/>
            </a:endParaRPr>
          </a:p>
        </p:txBody>
      </p:sp>
      <p:sp>
        <p:nvSpPr>
          <p:cNvPr id="4" name="ZoneTexte 3">
            <a:extLst>
              <a:ext uri="{FF2B5EF4-FFF2-40B4-BE49-F238E27FC236}">
                <a16:creationId xmlns:a16="http://schemas.microsoft.com/office/drawing/2014/main" id="{60AA20B5-3C5F-42AC-B6DC-9FAE453E95DD}"/>
              </a:ext>
            </a:extLst>
          </p:cNvPr>
          <p:cNvSpPr txBox="1"/>
          <p:nvPr/>
        </p:nvSpPr>
        <p:spPr>
          <a:xfrm>
            <a:off x="764280" y="1788404"/>
            <a:ext cx="4113373" cy="646331"/>
          </a:xfrm>
          <a:prstGeom prst="rect">
            <a:avLst/>
          </a:prstGeom>
          <a:noFill/>
        </p:spPr>
        <p:txBody>
          <a:bodyPr wrap="square" rtlCol="0">
            <a:spAutoFit/>
          </a:bodyPr>
          <a:lstStyle/>
          <a:p>
            <a:r>
              <a:rPr lang="fr-FR" sz="1200" dirty="0">
                <a:latin typeface="Times New Roman" panose="02020603050405020304" pitchFamily="18" charset="0"/>
                <a:cs typeface="Times New Roman" panose="02020603050405020304" pitchFamily="18" charset="0"/>
              </a:rPr>
              <a:t>Détection des véhicules éloignés, petites taille et dans les embouteillages en scène de trafic urbain appliqué au contexte béninois : proposition d’amélioration basées sur YOLOV8</a:t>
            </a:r>
          </a:p>
        </p:txBody>
      </p:sp>
      <p:sp>
        <p:nvSpPr>
          <p:cNvPr id="5" name="ZoneTexte 4">
            <a:extLst>
              <a:ext uri="{FF2B5EF4-FFF2-40B4-BE49-F238E27FC236}">
                <a16:creationId xmlns:a16="http://schemas.microsoft.com/office/drawing/2014/main" id="{1E635A44-7EFB-445A-98F6-4C6AC30A08A6}"/>
              </a:ext>
            </a:extLst>
          </p:cNvPr>
          <p:cNvSpPr txBox="1"/>
          <p:nvPr/>
        </p:nvSpPr>
        <p:spPr>
          <a:xfrm>
            <a:off x="130629" y="3159579"/>
            <a:ext cx="2498271" cy="769441"/>
          </a:xfrm>
          <a:prstGeom prst="rect">
            <a:avLst/>
          </a:prstGeom>
          <a:noFill/>
        </p:spPr>
        <p:txBody>
          <a:bodyPr wrap="square" rtlCol="0">
            <a:spAutoFit/>
          </a:bodyPr>
          <a:lstStyle/>
          <a:p>
            <a:r>
              <a:rPr lang="fr-FR" sz="1100" dirty="0">
                <a:latin typeface="Times New Roman" panose="02020603050405020304" pitchFamily="18" charset="0"/>
                <a:cs typeface="Times New Roman" panose="02020603050405020304" pitchFamily="18" charset="0"/>
              </a:rPr>
              <a:t>Présenté par:</a:t>
            </a:r>
          </a:p>
          <a:p>
            <a:pPr marL="171450" indent="-171450">
              <a:buFont typeface="Arial" panose="020B0604020202020204" pitchFamily="34" charset="0"/>
              <a:buChar char="•"/>
            </a:pPr>
            <a:r>
              <a:rPr lang="fr-FR" sz="1100" dirty="0" err="1">
                <a:latin typeface="Times New Roman" panose="02020603050405020304" pitchFamily="18" charset="0"/>
                <a:cs typeface="Times New Roman" panose="02020603050405020304" pitchFamily="18" charset="0"/>
              </a:rPr>
              <a:t>Aichatou</a:t>
            </a:r>
            <a:r>
              <a:rPr lang="fr-FR" sz="1100" dirty="0">
                <a:latin typeface="Times New Roman" panose="02020603050405020304" pitchFamily="18" charset="0"/>
                <a:cs typeface="Times New Roman" panose="02020603050405020304" pitchFamily="18" charset="0"/>
              </a:rPr>
              <a:t> Traoré</a:t>
            </a:r>
          </a:p>
          <a:p>
            <a:pPr marL="171450" indent="-171450">
              <a:buFont typeface="Arial" panose="020B0604020202020204" pitchFamily="34" charset="0"/>
              <a:buChar char="•"/>
            </a:pPr>
            <a:r>
              <a:rPr lang="fr-FR" sz="1100" dirty="0">
                <a:latin typeface="Times New Roman" panose="02020603050405020304" pitchFamily="18" charset="0"/>
                <a:cs typeface="Times New Roman" panose="02020603050405020304" pitchFamily="18" charset="0"/>
              </a:rPr>
              <a:t>Benoit Djossou</a:t>
            </a:r>
          </a:p>
          <a:p>
            <a:pPr marL="171450" indent="-171450">
              <a:buFont typeface="Arial" panose="020B0604020202020204" pitchFamily="34" charset="0"/>
              <a:buChar char="•"/>
            </a:pPr>
            <a:r>
              <a:rPr lang="fr-FR" sz="1100" dirty="0">
                <a:latin typeface="Times New Roman" panose="02020603050405020304" pitchFamily="18" charset="0"/>
                <a:cs typeface="Times New Roman" panose="02020603050405020304" pitchFamily="18" charset="0"/>
              </a:rPr>
              <a:t>Andréa Afouda</a:t>
            </a:r>
          </a:p>
        </p:txBody>
      </p:sp>
      <p:pic>
        <p:nvPicPr>
          <p:cNvPr id="10" name="Image 9">
            <a:extLst>
              <a:ext uri="{FF2B5EF4-FFF2-40B4-BE49-F238E27FC236}">
                <a16:creationId xmlns:a16="http://schemas.microsoft.com/office/drawing/2014/main" id="{18F4B98B-8312-49F5-A1FD-9A14513410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3438" y="0"/>
            <a:ext cx="4390562" cy="5143500"/>
          </a:xfrm>
          <a:prstGeom prst="flowChartMagneticTape">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Rectangle 110"/>
          <p:cNvSpPr/>
          <p:nvPr/>
        </p:nvSpPr>
        <p:spPr>
          <a:xfrm>
            <a:off x="619200" y="619200"/>
            <a:ext cx="7905240" cy="508034"/>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457200" indent="-457200" defTabSz="914400">
              <a:lnSpc>
                <a:spcPct val="100000"/>
              </a:lnSpc>
              <a:buFont typeface="+mj-lt"/>
              <a:buAutoNum type="arabicPeriod"/>
              <a:tabLst>
                <a:tab pos="0" algn="l"/>
              </a:tabLst>
            </a:pPr>
            <a:r>
              <a:rPr lang="fr-FR" sz="2800" dirty="0">
                <a:latin typeface="Times New Roman" panose="02020603050405020304" pitchFamily="18" charset="0"/>
                <a:cs typeface="Times New Roman" panose="02020603050405020304" pitchFamily="18" charset="0"/>
              </a:rPr>
              <a:t>Introduction</a:t>
            </a:r>
            <a:endParaRPr lang="en-US" sz="2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12" name="Rectangle 111"/>
          <p:cNvSpPr/>
          <p:nvPr/>
        </p:nvSpPr>
        <p:spPr>
          <a:xfrm>
            <a:off x="184731" y="1466193"/>
            <a:ext cx="8339709" cy="2167759"/>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0" marR="0" lvl="0" indent="0" algn="l" defTabSz="914400" rtl="0" eaLnBrk="0" fontAlgn="base" latinLnBrk="0" hangingPunct="0">
              <a:lnSpc>
                <a:spcPct val="150000"/>
              </a:lnSpc>
              <a:spcBef>
                <a:spcPct val="0"/>
              </a:spcBef>
              <a:spcAft>
                <a:spcPct val="0"/>
              </a:spcAft>
              <a:buClrTx/>
              <a:buSzTx/>
              <a:tabLst/>
            </a:pPr>
            <a:r>
              <a:rPr kumimoji="0" lang="fr-FR" altLang="fr-FR" sz="1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La détection automatique des véhicules est essentielle pour la surveillance routière, la gestion intelligente du trafic et les villes intelligentes. </a:t>
            </a:r>
          </a:p>
          <a:p>
            <a:pPr marL="0" marR="0" lvl="0" indent="0" algn="l" defTabSz="914400" rtl="0" eaLnBrk="0" fontAlgn="base" latinLnBrk="0" hangingPunct="0">
              <a:lnSpc>
                <a:spcPct val="150000"/>
              </a:lnSpc>
              <a:spcBef>
                <a:spcPct val="0"/>
              </a:spcBef>
              <a:spcAft>
                <a:spcPct val="0"/>
              </a:spcAft>
              <a:buClrTx/>
              <a:buSzTx/>
              <a:tabLst/>
            </a:pPr>
            <a:r>
              <a:rPr kumimoji="0" lang="fr-FR" altLang="fr-FR" sz="1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Les modèles YOLO offrent une détection rapide et performante. </a:t>
            </a:r>
          </a:p>
          <a:p>
            <a:pPr marL="0" marR="0" lvl="0" indent="0" algn="l" defTabSz="914400" rtl="0" eaLnBrk="0" fontAlgn="base" latinLnBrk="0" hangingPunct="0">
              <a:lnSpc>
                <a:spcPct val="150000"/>
              </a:lnSpc>
              <a:spcBef>
                <a:spcPct val="0"/>
              </a:spcBef>
              <a:spcAft>
                <a:spcPct val="0"/>
              </a:spcAft>
              <a:buClrTx/>
              <a:buSzTx/>
              <a:tabLst/>
            </a:pPr>
            <a:r>
              <a:rPr kumimoji="0" lang="fr-FR" altLang="fr-FR" sz="1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Cependant, leurs performances diminuent lorsque les véhicules sont : </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FR" altLang="fr-FR" sz="1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éloignés, </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FR" altLang="fr-FR" sz="1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de petite taille, </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fr-FR" altLang="fr-FR" sz="1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cachés dans les embouteillages. </a:t>
            </a:r>
          </a:p>
          <a:p>
            <a:pPr marL="0" marR="0" lvl="0" indent="0" algn="l" defTabSz="914400" rtl="0" eaLnBrk="0" fontAlgn="base" latinLnBrk="0" hangingPunct="0">
              <a:lnSpc>
                <a:spcPct val="150000"/>
              </a:lnSpc>
              <a:spcBef>
                <a:spcPct val="0"/>
              </a:spcBef>
              <a:spcAft>
                <a:spcPct val="0"/>
              </a:spcAft>
              <a:buClrTx/>
              <a:buSzTx/>
              <a:tabLst/>
            </a:pPr>
            <a:r>
              <a:rPr kumimoji="0" lang="fr-FR" altLang="fr-FR" sz="12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Ces difficultés sont particulièrement présentes dans le contexte béninois marqué par une forte densité de circulation et la présence de nombreux zémidjans.</a:t>
            </a:r>
            <a:endParaRPr lang="fr-FR" sz="1200" dirty="0">
              <a:latin typeface="Cambria" panose="02040503050406030204" pitchFamily="18" charset="0"/>
              <a:ea typeface="Cambria" panose="020405030504060302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0B83E324-95D9-4855-9506-1F2B7DB78762}"/>
              </a:ext>
            </a:extLst>
          </p:cNvPr>
          <p:cNvSpPr>
            <a:spLocks noChangeArrowheads="1"/>
          </p:cNvSpPr>
          <p:nvPr/>
        </p:nvSpPr>
        <p:spPr bwMode="auto">
          <a:xfrm>
            <a:off x="0" y="-207749"/>
            <a:ext cx="184731"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fr-FR" altLang="fr-FR" sz="105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Rectangle 110"/>
          <p:cNvSpPr/>
          <p:nvPr/>
        </p:nvSpPr>
        <p:spPr>
          <a:xfrm>
            <a:off x="619200" y="619200"/>
            <a:ext cx="7905240" cy="508034"/>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fr-FR" sz="2800" dirty="0">
                <a:latin typeface="Times New Roman" panose="02020603050405020304" pitchFamily="18" charset="0"/>
                <a:cs typeface="Times New Roman" panose="02020603050405020304" pitchFamily="18" charset="0"/>
              </a:rPr>
              <a:t>2. Problématique et objectif</a:t>
            </a:r>
            <a:endParaRPr lang="en-US" sz="2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0B83E324-95D9-4855-9506-1F2B7DB78762}"/>
              </a:ext>
            </a:extLst>
          </p:cNvPr>
          <p:cNvSpPr>
            <a:spLocks noChangeArrowheads="1"/>
          </p:cNvSpPr>
          <p:nvPr/>
        </p:nvSpPr>
        <p:spPr bwMode="auto">
          <a:xfrm>
            <a:off x="0" y="-207749"/>
            <a:ext cx="184731"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fr-FR" altLang="fr-FR" sz="1050" b="0" i="0" u="none" strike="noStrike" cap="none" normalizeH="0" baseline="0" dirty="0">
              <a:ln>
                <a:noFill/>
              </a:ln>
              <a:solidFill>
                <a:schemeClr val="tx1"/>
              </a:solidFill>
              <a:effectLst/>
              <a:latin typeface="Arial" panose="020B0604020202020204" pitchFamily="34" charset="0"/>
            </a:endParaRPr>
          </a:p>
        </p:txBody>
      </p:sp>
      <p:sp>
        <p:nvSpPr>
          <p:cNvPr id="2" name="ZoneTexte 1">
            <a:extLst>
              <a:ext uri="{FF2B5EF4-FFF2-40B4-BE49-F238E27FC236}">
                <a16:creationId xmlns:a16="http://schemas.microsoft.com/office/drawing/2014/main" id="{DA847383-B4BB-42DB-826C-7FB5BE3157F1}"/>
              </a:ext>
            </a:extLst>
          </p:cNvPr>
          <p:cNvSpPr txBox="1"/>
          <p:nvPr/>
        </p:nvSpPr>
        <p:spPr>
          <a:xfrm>
            <a:off x="532490" y="1244130"/>
            <a:ext cx="2100352" cy="307777"/>
          </a:xfrm>
          <a:prstGeom prst="rect">
            <a:avLst/>
          </a:prstGeom>
          <a:noFill/>
        </p:spPr>
        <p:txBody>
          <a:bodyPr wrap="square" rtlCol="0">
            <a:spAutoFit/>
          </a:bodyPr>
          <a:lstStyle>
            <a:defPPr>
              <a:defRPr lang="fr-FR"/>
            </a:defPPr>
            <a:lvl1pPr>
              <a:defRPr sz="1400">
                <a:latin typeface="Times New Roman" panose="02020603050405020304" pitchFamily="18" charset="0"/>
                <a:cs typeface="Times New Roman" panose="02020603050405020304" pitchFamily="18" charset="0"/>
              </a:defRPr>
            </a:lvl1pPr>
          </a:lstStyle>
          <a:p>
            <a:pPr marL="342900" indent="-342900">
              <a:buFont typeface="+mj-lt"/>
              <a:buAutoNum type="alphaLcParenR"/>
            </a:pPr>
            <a:r>
              <a:rPr lang="fr-FR" dirty="0"/>
              <a:t>Problématique </a:t>
            </a:r>
          </a:p>
        </p:txBody>
      </p:sp>
      <p:sp>
        <p:nvSpPr>
          <p:cNvPr id="4" name="ZoneTexte 3">
            <a:extLst>
              <a:ext uri="{FF2B5EF4-FFF2-40B4-BE49-F238E27FC236}">
                <a16:creationId xmlns:a16="http://schemas.microsoft.com/office/drawing/2014/main" id="{E4423E2B-2DBB-4301-A8C7-09D874F41D5C}"/>
              </a:ext>
            </a:extLst>
          </p:cNvPr>
          <p:cNvSpPr txBox="1"/>
          <p:nvPr/>
        </p:nvSpPr>
        <p:spPr>
          <a:xfrm>
            <a:off x="934510" y="1551907"/>
            <a:ext cx="5076497" cy="1720086"/>
          </a:xfrm>
          <a:prstGeom prst="rect">
            <a:avLst/>
          </a:prstGeom>
          <a:noFill/>
        </p:spPr>
        <p:txBody>
          <a:bodyPr wrap="square" rtlCol="0">
            <a:spAutoFit/>
          </a:bodyPr>
          <a:lstStyle/>
          <a:p>
            <a:pPr>
              <a:lnSpc>
                <a:spcPct val="150000"/>
              </a:lnSpc>
            </a:pPr>
            <a:r>
              <a:rPr lang="fr-FR" sz="1200" dirty="0">
                <a:latin typeface="Cambria" panose="02040503050406030204" pitchFamily="18" charset="0"/>
                <a:ea typeface="Cambria" panose="02040503050406030204" pitchFamily="18" charset="0"/>
              </a:rPr>
              <a:t>Dans les scènes de trafic urbain au Bénin :</a:t>
            </a:r>
          </a:p>
          <a:p>
            <a:pPr marL="171450"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Les véhicules éloignés occupent peu de pixels ; </a:t>
            </a:r>
          </a:p>
          <a:p>
            <a:pPr marL="171450"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plusieurs véhicules sont regroupés ou se chevauchent ; </a:t>
            </a:r>
          </a:p>
          <a:p>
            <a:pPr marL="171450"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les motos-taxis circulent de manière moins prévisible. </a:t>
            </a:r>
          </a:p>
          <a:p>
            <a:pPr>
              <a:lnSpc>
                <a:spcPct val="150000"/>
              </a:lnSpc>
            </a:pPr>
            <a:r>
              <a:rPr lang="fr-FR" sz="1200" dirty="0">
                <a:latin typeface="Cambria" panose="02040503050406030204" pitchFamily="18" charset="0"/>
                <a:ea typeface="Cambria" panose="02040503050406030204" pitchFamily="18" charset="0"/>
              </a:rPr>
              <a:t>Ces situations réduisent la précision de YOLOv8 et entraînent des véhicules non détectés.</a:t>
            </a:r>
          </a:p>
        </p:txBody>
      </p:sp>
      <p:sp>
        <p:nvSpPr>
          <p:cNvPr id="9" name="ZoneTexte 8">
            <a:extLst>
              <a:ext uri="{FF2B5EF4-FFF2-40B4-BE49-F238E27FC236}">
                <a16:creationId xmlns:a16="http://schemas.microsoft.com/office/drawing/2014/main" id="{FC39123B-869B-4E01-A8A5-8098F88B83B8}"/>
              </a:ext>
            </a:extLst>
          </p:cNvPr>
          <p:cNvSpPr txBox="1"/>
          <p:nvPr/>
        </p:nvSpPr>
        <p:spPr>
          <a:xfrm>
            <a:off x="713793" y="3271993"/>
            <a:ext cx="1509145" cy="523220"/>
          </a:xfrm>
          <a:prstGeom prst="rect">
            <a:avLst/>
          </a:prstGeom>
          <a:noFill/>
        </p:spPr>
        <p:txBody>
          <a:bodyPr wrap="square" rtlCol="0">
            <a:spAutoFit/>
          </a:bodyPr>
          <a:lstStyle/>
          <a:p>
            <a:r>
              <a:rPr lang="fr-FR" sz="1400" dirty="0">
                <a:latin typeface="Times New Roman" panose="02020603050405020304" pitchFamily="18" charset="0"/>
                <a:cs typeface="Times New Roman" panose="02020603050405020304" pitchFamily="18" charset="0"/>
              </a:rPr>
              <a:t>b) Objectif</a:t>
            </a:r>
          </a:p>
          <a:p>
            <a:endParaRPr lang="fr-FR" sz="1400" dirty="0">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061410EF-6005-435A-A1F3-5648546B26D7}"/>
              </a:ext>
            </a:extLst>
          </p:cNvPr>
          <p:cNvSpPr txBox="1"/>
          <p:nvPr/>
        </p:nvSpPr>
        <p:spPr>
          <a:xfrm>
            <a:off x="934510" y="3684206"/>
            <a:ext cx="6637282" cy="1443087"/>
          </a:xfrm>
          <a:prstGeom prst="rect">
            <a:avLst/>
          </a:prstGeom>
          <a:noFill/>
        </p:spPr>
        <p:txBody>
          <a:bodyPr wrap="square" rtlCol="0">
            <a:spAutoFit/>
          </a:bodyPr>
          <a:lstStyle/>
          <a:p>
            <a:pPr>
              <a:lnSpc>
                <a:spcPct val="150000"/>
              </a:lnSpc>
            </a:pPr>
            <a:r>
              <a:rPr lang="fr-FR" sz="1200" dirty="0">
                <a:latin typeface="Cambria" panose="02040503050406030204" pitchFamily="18" charset="0"/>
                <a:ea typeface="Cambria" panose="02040503050406030204" pitchFamily="18" charset="0"/>
              </a:rPr>
              <a:t>Améliorer YOLOv8 grâce à un </a:t>
            </a:r>
            <a:r>
              <a:rPr lang="fr-FR" sz="1200" b="1" dirty="0">
                <a:latin typeface="Cambria" panose="02040503050406030204" pitchFamily="18" charset="0"/>
                <a:ea typeface="Cambria" panose="02040503050406030204" pitchFamily="18" charset="0"/>
              </a:rPr>
              <a:t>fine-tuning</a:t>
            </a:r>
            <a:r>
              <a:rPr lang="fr-FR" sz="1200" dirty="0">
                <a:latin typeface="Cambria" panose="02040503050406030204" pitchFamily="18" charset="0"/>
                <a:ea typeface="Cambria" panose="02040503050406030204" pitchFamily="18" charset="0"/>
              </a:rPr>
              <a:t> sur un jeu de données représentatif du trafic urbain béninois afin de mieux détecter :</a:t>
            </a:r>
          </a:p>
          <a:p>
            <a:pPr marL="171450"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les véhicules éloignés ; </a:t>
            </a:r>
          </a:p>
          <a:p>
            <a:pPr marL="171450"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les véhicules de petite taille ; </a:t>
            </a:r>
          </a:p>
          <a:p>
            <a:pPr marL="171450"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les véhicules dans les embouteillages</a:t>
            </a:r>
          </a:p>
        </p:txBody>
      </p:sp>
    </p:spTree>
    <p:extLst>
      <p:ext uri="{BB962C8B-B14F-4D97-AF65-F5344CB8AC3E}">
        <p14:creationId xmlns:p14="http://schemas.microsoft.com/office/powerpoint/2010/main" val="27722776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Rectangle 129"/>
          <p:cNvSpPr/>
          <p:nvPr/>
        </p:nvSpPr>
        <p:spPr>
          <a:xfrm>
            <a:off x="476280" y="391320"/>
            <a:ext cx="8191080" cy="3996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10000"/>
          </a:bodyPr>
          <a:lstStyle/>
          <a:p>
            <a:pPr defTabSz="914400">
              <a:lnSpc>
                <a:spcPct val="100000"/>
              </a:lnSpc>
              <a:tabLst>
                <a:tab pos="0" algn="l"/>
              </a:tabLst>
            </a:pPr>
            <a:r>
              <a:rPr lang="en-US" sz="2400" dirty="0">
                <a:solidFill>
                  <a:srgbClr val="000000"/>
                </a:solidFill>
                <a:latin typeface="Times New Roman" panose="02020603050405020304" pitchFamily="18" charset="0"/>
                <a:cs typeface="Times New Roman" panose="02020603050405020304" pitchFamily="18" charset="0"/>
              </a:rPr>
              <a:t>3. </a:t>
            </a:r>
            <a:r>
              <a:rPr lang="fr-FR" sz="2400" dirty="0">
                <a:latin typeface="Times New Roman" panose="02020603050405020304" pitchFamily="18" charset="0"/>
                <a:cs typeface="Times New Roman" panose="02020603050405020304" pitchFamily="18" charset="0"/>
              </a:rPr>
              <a:t>Les modèles existants</a:t>
            </a:r>
            <a:endParaRPr lang="en-US" sz="24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31" name="ZoneTexte 30">
            <a:extLst>
              <a:ext uri="{FF2B5EF4-FFF2-40B4-BE49-F238E27FC236}">
                <a16:creationId xmlns:a16="http://schemas.microsoft.com/office/drawing/2014/main" id="{E383D900-40B2-4C7E-B1D3-E0B28AAC7DE0}"/>
              </a:ext>
            </a:extLst>
          </p:cNvPr>
          <p:cNvSpPr txBox="1"/>
          <p:nvPr/>
        </p:nvSpPr>
        <p:spPr>
          <a:xfrm>
            <a:off x="590081" y="790920"/>
            <a:ext cx="5018783" cy="646331"/>
          </a:xfrm>
          <a:prstGeom prst="rect">
            <a:avLst/>
          </a:prstGeom>
          <a:noFill/>
        </p:spPr>
        <p:txBody>
          <a:bodyPr wrap="square">
            <a:spAutoFit/>
          </a:bodyPr>
          <a:lstStyle/>
          <a:p>
            <a:r>
              <a:rPr lang="fr-FR" sz="1200" dirty="0">
                <a:latin typeface="Times New Roman" panose="02020603050405020304" pitchFamily="18" charset="0"/>
                <a:cs typeface="Times New Roman" panose="02020603050405020304" pitchFamily="18" charset="0"/>
              </a:rPr>
              <a:t>Plusieurs modèles de vision par ordinateur peuvent être utilisés pour la détection des véhicule</a:t>
            </a:r>
          </a:p>
          <a:p>
            <a:r>
              <a:rPr lang="fr-FR" sz="1200" dirty="0">
                <a:latin typeface="Times New Roman" panose="02020603050405020304" pitchFamily="18" charset="0"/>
                <a:cs typeface="Times New Roman" panose="02020603050405020304" pitchFamily="18" charset="0"/>
              </a:rPr>
              <a:t>Parmi les modèles les plus connus, on retrouve notamment :</a:t>
            </a:r>
          </a:p>
        </p:txBody>
      </p:sp>
      <p:graphicFrame>
        <p:nvGraphicFramePr>
          <p:cNvPr id="5" name="Tableau 5">
            <a:extLst>
              <a:ext uri="{FF2B5EF4-FFF2-40B4-BE49-F238E27FC236}">
                <a16:creationId xmlns:a16="http://schemas.microsoft.com/office/drawing/2014/main" id="{F96A9C8E-1D3D-4705-93D5-25AD8B304099}"/>
              </a:ext>
            </a:extLst>
          </p:cNvPr>
          <p:cNvGraphicFramePr>
            <a:graphicFrameLocks noGrp="1"/>
          </p:cNvGraphicFramePr>
          <p:nvPr>
            <p:extLst>
              <p:ext uri="{D42A27DB-BD31-4B8C-83A1-F6EECF244321}">
                <p14:modId xmlns:p14="http://schemas.microsoft.com/office/powerpoint/2010/main" val="1988548265"/>
              </p:ext>
            </p:extLst>
          </p:nvPr>
        </p:nvGraphicFramePr>
        <p:xfrm>
          <a:off x="155121" y="1559378"/>
          <a:ext cx="8931729" cy="2904417"/>
        </p:xfrm>
        <a:graphic>
          <a:graphicData uri="http://schemas.openxmlformats.org/drawingml/2006/table">
            <a:tbl>
              <a:tblPr firstRow="1" bandRow="1">
                <a:tableStyleId>{5C22544A-7EE6-4342-B048-85BDC9FD1C3A}</a:tableStyleId>
              </a:tblPr>
              <a:tblGrid>
                <a:gridCol w="3023867">
                  <a:extLst>
                    <a:ext uri="{9D8B030D-6E8A-4147-A177-3AD203B41FA5}">
                      <a16:colId xmlns:a16="http://schemas.microsoft.com/office/drawing/2014/main" val="1916435287"/>
                    </a:ext>
                  </a:extLst>
                </a:gridCol>
                <a:gridCol w="2953931">
                  <a:extLst>
                    <a:ext uri="{9D8B030D-6E8A-4147-A177-3AD203B41FA5}">
                      <a16:colId xmlns:a16="http://schemas.microsoft.com/office/drawing/2014/main" val="2681273286"/>
                    </a:ext>
                  </a:extLst>
                </a:gridCol>
                <a:gridCol w="2953931">
                  <a:extLst>
                    <a:ext uri="{9D8B030D-6E8A-4147-A177-3AD203B41FA5}">
                      <a16:colId xmlns:a16="http://schemas.microsoft.com/office/drawing/2014/main" val="35947688"/>
                    </a:ext>
                  </a:extLst>
                </a:gridCol>
              </a:tblGrid>
              <a:tr h="362685">
                <a:tc>
                  <a:txBody>
                    <a:bodyPr/>
                    <a:lstStyle/>
                    <a:p>
                      <a:r>
                        <a:rPr lang="fr-FR" dirty="0">
                          <a:latin typeface="Times New Roman" panose="02020603050405020304" pitchFamily="18" charset="0"/>
                          <a:cs typeface="Times New Roman" panose="02020603050405020304" pitchFamily="18" charset="0"/>
                        </a:rPr>
                        <a:t>Modèle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fr-FR" dirty="0">
                          <a:latin typeface="Times New Roman" panose="02020603050405020304" pitchFamily="18" charset="0"/>
                          <a:cs typeface="Times New Roman" panose="02020603050405020304" pitchFamily="18" charset="0"/>
                        </a:rPr>
                        <a:t>Avantages</a:t>
                      </a:r>
                    </a:p>
                  </a:txBody>
                  <a:tcPr>
                    <a:lnL w="12700" cap="flat" cmpd="sng" algn="ctr">
                      <a:noFill/>
                      <a:prstDash val="solid"/>
                      <a:round/>
                      <a:headEnd type="none" w="med" len="med"/>
                      <a:tailEnd type="none" w="med" len="med"/>
                    </a:lnL>
                  </a:tcPr>
                </a:tc>
                <a:tc>
                  <a:txBody>
                    <a:bodyPr/>
                    <a:lstStyle/>
                    <a:p>
                      <a:r>
                        <a:rPr lang="fr-FR" dirty="0">
                          <a:latin typeface="Times New Roman" panose="02020603050405020304" pitchFamily="18" charset="0"/>
                          <a:cs typeface="Times New Roman" panose="02020603050405020304" pitchFamily="18" charset="0"/>
                        </a:rPr>
                        <a:t>Limites</a:t>
                      </a:r>
                    </a:p>
                  </a:txBody>
                  <a:tcPr/>
                </a:tc>
                <a:extLst>
                  <a:ext uri="{0D108BD9-81ED-4DB2-BD59-A6C34878D82A}">
                    <a16:rowId xmlns:a16="http://schemas.microsoft.com/office/drawing/2014/main" val="3357204157"/>
                  </a:ext>
                </a:extLst>
              </a:tr>
              <a:tr h="513804">
                <a:tc>
                  <a:txBody>
                    <a:bodyPr/>
                    <a:lstStyle/>
                    <a:p>
                      <a:r>
                        <a:rPr lang="fr-FR" sz="1400" dirty="0">
                          <a:latin typeface="Times New Roman" panose="02020603050405020304" pitchFamily="18" charset="0"/>
                          <a:cs typeface="Times New Roman" panose="02020603050405020304" pitchFamily="18" charset="0"/>
                        </a:rPr>
                        <a:t>YOLOv5</a:t>
                      </a:r>
                    </a:p>
                  </a:txBody>
                  <a:tcPr>
                    <a:lnT w="12700" cap="flat" cmpd="sng" algn="ctr">
                      <a:noFill/>
                      <a:prstDash val="solid"/>
                      <a:round/>
                      <a:headEnd type="none" w="med" len="med"/>
                      <a:tailEnd type="none" w="med" len="med"/>
                    </a:lnT>
                  </a:tcPr>
                </a:tc>
                <a:tc>
                  <a:txBody>
                    <a:bodyPr/>
                    <a:lstStyle/>
                    <a:p>
                      <a:r>
                        <a:rPr lang="fr-FR" sz="1400" dirty="0">
                          <a:latin typeface="Times New Roman" panose="02020603050405020304" pitchFamily="18" charset="0"/>
                          <a:cs typeface="Times New Roman" panose="02020603050405020304" pitchFamily="18" charset="0"/>
                        </a:rPr>
                        <a:t>Rapide</a:t>
                      </a:r>
                    </a:p>
                  </a:txBody>
                  <a:tcPr/>
                </a:tc>
                <a:tc>
                  <a:txBody>
                    <a:bodyPr/>
                    <a:lstStyle/>
                    <a:p>
                      <a:r>
                        <a:rPr lang="fr-FR" sz="1400" dirty="0">
                          <a:latin typeface="Times New Roman" panose="02020603050405020304" pitchFamily="18" charset="0"/>
                          <a:cs typeface="Times New Roman" panose="02020603050405020304" pitchFamily="18" charset="0"/>
                        </a:rPr>
                        <a:t>Un peu moins précis sur les petits objets</a:t>
                      </a:r>
                    </a:p>
                  </a:txBody>
                  <a:tcPr/>
                </a:tc>
                <a:extLst>
                  <a:ext uri="{0D108BD9-81ED-4DB2-BD59-A6C34878D82A}">
                    <a16:rowId xmlns:a16="http://schemas.microsoft.com/office/drawing/2014/main" val="2280291109"/>
                  </a:ext>
                </a:extLst>
              </a:tr>
              <a:tr h="302237">
                <a:tc>
                  <a:txBody>
                    <a:bodyPr/>
                    <a:lstStyle/>
                    <a:p>
                      <a:r>
                        <a:rPr lang="fr-FR" sz="1400" dirty="0">
                          <a:latin typeface="Times New Roman" panose="02020603050405020304" pitchFamily="18" charset="0"/>
                          <a:cs typeface="Times New Roman" panose="02020603050405020304" pitchFamily="18" charset="0"/>
                        </a:rPr>
                        <a:t>YOLOv7</a:t>
                      </a:r>
                    </a:p>
                  </a:txBody>
                  <a:tcPr/>
                </a:tc>
                <a:tc>
                  <a:txBody>
                    <a:bodyPr/>
                    <a:lstStyle/>
                    <a:p>
                      <a:r>
                        <a:rPr lang="fr-FR" sz="1400" dirty="0">
                          <a:latin typeface="Times New Roman" panose="02020603050405020304" pitchFamily="18" charset="0"/>
                          <a:cs typeface="Times New Roman" panose="02020603050405020304" pitchFamily="18" charset="0"/>
                        </a:rPr>
                        <a:t>Très performant</a:t>
                      </a:r>
                    </a:p>
                  </a:txBody>
                  <a:tcPr/>
                </a:tc>
                <a:tc>
                  <a:txBody>
                    <a:bodyPr/>
                    <a:lstStyle/>
                    <a:p>
                      <a:r>
                        <a:rPr lang="fr-FR" sz="1400" dirty="0">
                          <a:latin typeface="Times New Roman" panose="02020603050405020304" pitchFamily="18" charset="0"/>
                          <a:cs typeface="Times New Roman" panose="02020603050405020304" pitchFamily="18" charset="0"/>
                        </a:rPr>
                        <a:t>Plus lourd</a:t>
                      </a:r>
                    </a:p>
                  </a:txBody>
                  <a:tcPr/>
                </a:tc>
                <a:extLst>
                  <a:ext uri="{0D108BD9-81ED-4DB2-BD59-A6C34878D82A}">
                    <a16:rowId xmlns:a16="http://schemas.microsoft.com/office/drawing/2014/main" val="2732903640"/>
                  </a:ext>
                </a:extLst>
              </a:tr>
              <a:tr h="725370">
                <a:tc>
                  <a:txBody>
                    <a:bodyPr/>
                    <a:lstStyle/>
                    <a:p>
                      <a:r>
                        <a:rPr lang="fr-FR" sz="1400" dirty="0">
                          <a:latin typeface="Times New Roman" panose="02020603050405020304" pitchFamily="18" charset="0"/>
                          <a:cs typeface="Times New Roman" panose="02020603050405020304" pitchFamily="18" charset="0"/>
                        </a:rPr>
                        <a:t>YOLOv8</a:t>
                      </a:r>
                    </a:p>
                  </a:txBody>
                  <a:tcPr/>
                </a:tc>
                <a:tc>
                  <a:txBody>
                    <a:bodyPr/>
                    <a:lstStyle/>
                    <a:p>
                      <a:r>
                        <a:rPr lang="fr-FR" sz="1400" dirty="0">
                          <a:latin typeface="Times New Roman" panose="02020603050405020304" pitchFamily="18" charset="0"/>
                          <a:cs typeface="Times New Roman" panose="02020603050405020304" pitchFamily="18" charset="0"/>
                        </a:rPr>
                        <a:t>Très rapide et précis</a:t>
                      </a:r>
                    </a:p>
                  </a:txBody>
                  <a:tcPr/>
                </a:tc>
                <a:tc>
                  <a:txBody>
                    <a:bodyPr/>
                    <a:lstStyle/>
                    <a:p>
                      <a:r>
                        <a:rPr lang="fr-FR" sz="1400" dirty="0">
                          <a:latin typeface="Times New Roman" panose="02020603050405020304" pitchFamily="18" charset="0"/>
                          <a:cs typeface="Times New Roman" panose="02020603050405020304" pitchFamily="18" charset="0"/>
                        </a:rPr>
                        <a:t>Peut avoir des difficultés avec les objets fortement cachés ou dans des conditions difficiles</a:t>
                      </a:r>
                    </a:p>
                  </a:txBody>
                  <a:tcPr/>
                </a:tc>
                <a:extLst>
                  <a:ext uri="{0D108BD9-81ED-4DB2-BD59-A6C34878D82A}">
                    <a16:rowId xmlns:a16="http://schemas.microsoft.com/office/drawing/2014/main" val="1903364264"/>
                  </a:ext>
                </a:extLst>
              </a:tr>
              <a:tr h="302237">
                <a:tc>
                  <a:txBody>
                    <a:bodyPr/>
                    <a:lstStyle/>
                    <a:p>
                      <a:r>
                        <a:rPr lang="fr-FR" sz="1400" dirty="0" err="1">
                          <a:latin typeface="Times New Roman" panose="02020603050405020304" pitchFamily="18" charset="0"/>
                          <a:cs typeface="Times New Roman" panose="02020603050405020304" pitchFamily="18" charset="0"/>
                        </a:rPr>
                        <a:t>Faster</a:t>
                      </a:r>
                      <a:r>
                        <a:rPr lang="fr-FR" sz="1400" dirty="0">
                          <a:latin typeface="Times New Roman" panose="02020603050405020304" pitchFamily="18" charset="0"/>
                          <a:cs typeface="Times New Roman" panose="02020603050405020304" pitchFamily="18" charset="0"/>
                        </a:rPr>
                        <a:t> R-CNN</a:t>
                      </a:r>
                    </a:p>
                  </a:txBody>
                  <a:tcPr/>
                </a:tc>
                <a:tc>
                  <a:txBody>
                    <a:bodyPr/>
                    <a:lstStyle/>
                    <a:p>
                      <a:r>
                        <a:rPr lang="fr-FR" sz="1400" dirty="0">
                          <a:latin typeface="Times New Roman" panose="02020603050405020304" pitchFamily="18" charset="0"/>
                          <a:cs typeface="Times New Roman" panose="02020603050405020304" pitchFamily="18" charset="0"/>
                        </a:rPr>
                        <a:t>Très précis</a:t>
                      </a:r>
                    </a:p>
                  </a:txBody>
                  <a:tcPr/>
                </a:tc>
                <a:tc>
                  <a:txBody>
                    <a:bodyPr/>
                    <a:lstStyle/>
                    <a:p>
                      <a:r>
                        <a:rPr lang="fr-FR" sz="1400" dirty="0">
                          <a:latin typeface="Times New Roman" panose="02020603050405020304" pitchFamily="18" charset="0"/>
                          <a:cs typeface="Times New Roman" panose="02020603050405020304" pitchFamily="18" charset="0"/>
                        </a:rPr>
                        <a:t>Plus lent</a:t>
                      </a:r>
                    </a:p>
                  </a:txBody>
                  <a:tcPr/>
                </a:tc>
                <a:extLst>
                  <a:ext uri="{0D108BD9-81ED-4DB2-BD59-A6C34878D82A}">
                    <a16:rowId xmlns:a16="http://schemas.microsoft.com/office/drawing/2014/main" val="68963711"/>
                  </a:ext>
                </a:extLst>
              </a:tr>
              <a:tr h="682452">
                <a:tc>
                  <a:txBody>
                    <a:bodyPr/>
                    <a:lstStyle/>
                    <a:p>
                      <a:r>
                        <a:rPr lang="fr-FR" sz="1400" dirty="0">
                          <a:latin typeface="Times New Roman" panose="02020603050405020304" pitchFamily="18" charset="0"/>
                          <a:cs typeface="Times New Roman" panose="02020603050405020304" pitchFamily="18" charset="0"/>
                        </a:rPr>
                        <a:t>SSD</a:t>
                      </a:r>
                    </a:p>
                  </a:txBody>
                  <a:tcPr/>
                </a:tc>
                <a:tc>
                  <a:txBody>
                    <a:bodyPr/>
                    <a:lstStyle/>
                    <a:p>
                      <a:r>
                        <a:rPr lang="fr-FR" sz="1400" dirty="0">
                          <a:latin typeface="Times New Roman" panose="02020603050405020304" pitchFamily="18" charset="0"/>
                          <a:cs typeface="Times New Roman" panose="02020603050405020304" pitchFamily="18" charset="0"/>
                        </a:rPr>
                        <a:t>Rapide</a:t>
                      </a:r>
                    </a:p>
                  </a:txBody>
                  <a:tcPr/>
                </a:tc>
                <a:tc>
                  <a:txBody>
                    <a:bodyPr/>
                    <a:lstStyle/>
                    <a:p>
                      <a:r>
                        <a:rPr lang="fr-FR" sz="1400" dirty="0">
                          <a:latin typeface="Times New Roman" panose="02020603050405020304" pitchFamily="18" charset="0"/>
                          <a:cs typeface="Times New Roman" panose="02020603050405020304" pitchFamily="18" charset="0"/>
                        </a:rPr>
                        <a:t>Généralement moins précis que les dernières versions de YOLO</a:t>
                      </a:r>
                    </a:p>
                  </a:txBody>
                  <a:tcPr/>
                </a:tc>
                <a:extLst>
                  <a:ext uri="{0D108BD9-81ED-4DB2-BD59-A6C34878D82A}">
                    <a16:rowId xmlns:a16="http://schemas.microsoft.com/office/drawing/2014/main" val="798827341"/>
                  </a:ext>
                </a:extLst>
              </a:tr>
            </a:tbl>
          </a:graphicData>
        </a:graphic>
      </p:graphicFrame>
      <p:sp>
        <p:nvSpPr>
          <p:cNvPr id="6" name="ZoneTexte 5">
            <a:extLst>
              <a:ext uri="{FF2B5EF4-FFF2-40B4-BE49-F238E27FC236}">
                <a16:creationId xmlns:a16="http://schemas.microsoft.com/office/drawing/2014/main" id="{CC9C9109-9821-4BAE-9F82-9E35285A4BEB}"/>
              </a:ext>
            </a:extLst>
          </p:cNvPr>
          <p:cNvSpPr txBox="1"/>
          <p:nvPr/>
        </p:nvSpPr>
        <p:spPr>
          <a:xfrm>
            <a:off x="1020536" y="4588997"/>
            <a:ext cx="7453993" cy="584775"/>
          </a:xfrm>
          <a:prstGeom prst="rect">
            <a:avLst/>
          </a:prstGeom>
          <a:noFill/>
        </p:spPr>
        <p:txBody>
          <a:bodyPr wrap="square" rtlCol="0">
            <a:spAutoFit/>
          </a:bodyPr>
          <a:lstStyle/>
          <a:p>
            <a:r>
              <a:rPr lang="fr-FR" dirty="0">
                <a:latin typeface="Times New Roman" panose="02020603050405020304" pitchFamily="18" charset="0"/>
                <a:cs typeface="Times New Roman" panose="02020603050405020304" pitchFamily="18" charset="0"/>
              </a:rPr>
              <a:t>.</a:t>
            </a:r>
            <a:r>
              <a:rPr lang="fr-FR" sz="1400" dirty="0">
                <a:latin typeface="Times New Roman" panose="02020603050405020304" pitchFamily="18" charset="0"/>
                <a:cs typeface="Times New Roman" panose="02020603050405020304" pitchFamily="18" charset="0"/>
              </a:rPr>
              <a:t> Nous nous sommes particulièrement intéressés à </a:t>
            </a:r>
            <a:r>
              <a:rPr lang="fr-FR" sz="1400" b="1" dirty="0">
                <a:latin typeface="Times New Roman" panose="02020603050405020304" pitchFamily="18" charset="0"/>
                <a:cs typeface="Times New Roman" panose="02020603050405020304" pitchFamily="18" charset="0"/>
              </a:rPr>
              <a:t> YOLOv8</a:t>
            </a:r>
            <a:r>
              <a:rPr lang="fr-FR" sz="1400" dirty="0">
                <a:latin typeface="Times New Roman" panose="02020603050405020304" pitchFamily="18" charset="0"/>
                <a:cs typeface="Times New Roman" panose="02020603050405020304" pitchFamily="18" charset="0"/>
              </a:rPr>
              <a:t>, car ils offre un bon compromis entre précision et rapidité</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Rectangle 110"/>
          <p:cNvSpPr/>
          <p:nvPr/>
        </p:nvSpPr>
        <p:spPr>
          <a:xfrm>
            <a:off x="619200" y="619200"/>
            <a:ext cx="7905240" cy="508034"/>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r>
              <a:rPr lang="fr-FR" sz="2800" dirty="0">
                <a:latin typeface="Times New Roman" panose="02020603050405020304" pitchFamily="18" charset="0"/>
                <a:cs typeface="Times New Roman" panose="02020603050405020304" pitchFamily="18" charset="0"/>
              </a:rPr>
              <a:t>4. Limites observées</a:t>
            </a:r>
            <a:endParaRPr lang="en-US" sz="28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12" name="Rectangle 111"/>
          <p:cNvSpPr/>
          <p:nvPr/>
        </p:nvSpPr>
        <p:spPr>
          <a:xfrm>
            <a:off x="78829" y="1127234"/>
            <a:ext cx="8445612" cy="4016266"/>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342900" indent="-342900">
              <a:lnSpc>
                <a:spcPct val="150000"/>
              </a:lnSpc>
              <a:buFont typeface="+mj-lt"/>
              <a:buAutoNum type="alphaLcParenR"/>
            </a:pPr>
            <a:r>
              <a:rPr lang="fr-FR" sz="1400" b="1" dirty="0">
                <a:latin typeface="Cambria" panose="02040503050406030204" pitchFamily="18" charset="0"/>
                <a:ea typeface="Cambria" panose="02040503050406030204" pitchFamily="18" charset="0"/>
                <a:cs typeface="Times New Roman" panose="02020603050405020304" pitchFamily="18" charset="0"/>
              </a:rPr>
              <a:t>Limite</a:t>
            </a:r>
          </a:p>
          <a:p>
            <a:pPr>
              <a:lnSpc>
                <a:spcPct val="150000"/>
              </a:lnSpc>
            </a:pPr>
            <a:r>
              <a:rPr lang="fr-FR" sz="1200" dirty="0">
                <a:latin typeface="Cambria" panose="02040503050406030204" pitchFamily="18" charset="0"/>
                <a:ea typeface="Cambria" panose="02040503050406030204" pitchFamily="18" charset="0"/>
              </a:rPr>
              <a:t>Nos observations montrent que YOLOv8 présente plusieurs limites :</a:t>
            </a:r>
          </a:p>
          <a:p>
            <a:pPr marL="628650" lvl="1"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faible détection des véhicules éloignés ; </a:t>
            </a:r>
          </a:p>
          <a:p>
            <a:pPr marL="628650" lvl="1"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difficulté à détecter les véhicules de petite taille ; </a:t>
            </a:r>
          </a:p>
          <a:p>
            <a:pPr marL="628650" lvl="1"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pertes de détection lorsque les véhicules se chevauchent ; </a:t>
            </a:r>
          </a:p>
          <a:p>
            <a:pPr marL="628650" lvl="1"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baisse des scores de confiance ; </a:t>
            </a:r>
          </a:p>
          <a:p>
            <a:pPr marL="628650" lvl="1"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diminution des performances lorsque la densité du trafic augmente. </a:t>
            </a:r>
          </a:p>
          <a:p>
            <a:pPr>
              <a:lnSpc>
                <a:spcPct val="150000"/>
              </a:lnSpc>
            </a:pPr>
            <a:r>
              <a:rPr lang="fr-FR" sz="1200" dirty="0">
                <a:latin typeface="Cambria" panose="02040503050406030204" pitchFamily="18" charset="0"/>
                <a:ea typeface="Cambria" panose="02040503050406030204" pitchFamily="18" charset="0"/>
              </a:rPr>
              <a:t>Dans le contexte béninois, ces difficultés sont accentuées par la forte présence de motos-taxis et la circulation dense</a:t>
            </a:r>
          </a:p>
          <a:p>
            <a:pPr>
              <a:lnSpc>
                <a:spcPct val="150000"/>
              </a:lnSpc>
            </a:pPr>
            <a:r>
              <a:rPr lang="fr-FR" sz="1400" dirty="0">
                <a:latin typeface="Cambria" panose="02040503050406030204" pitchFamily="18" charset="0"/>
                <a:ea typeface="Cambria" panose="02040503050406030204" pitchFamily="18" charset="0"/>
              </a:rPr>
              <a:t>b</a:t>
            </a:r>
            <a:r>
              <a:rPr lang="fr-FR" sz="1400" b="1" dirty="0">
                <a:latin typeface="Cambria" panose="02040503050406030204" pitchFamily="18" charset="0"/>
                <a:ea typeface="Cambria" panose="02040503050406030204" pitchFamily="18" charset="0"/>
              </a:rPr>
              <a:t>) </a:t>
            </a:r>
            <a:r>
              <a:rPr lang="fr-FR" sz="1400" b="1" dirty="0">
                <a:latin typeface="Cambria" panose="02040503050406030204" pitchFamily="18" charset="0"/>
                <a:ea typeface="Cambria" panose="02040503050406030204" pitchFamily="18" charset="0"/>
                <a:cs typeface="Times New Roman" panose="02020603050405020304" pitchFamily="18" charset="0"/>
              </a:rPr>
              <a:t>Notre proposition d’amélioration</a:t>
            </a:r>
          </a:p>
          <a:p>
            <a:pPr lvl="1"/>
            <a:r>
              <a:rPr lang="fr-FR" sz="1200" dirty="0">
                <a:latin typeface="Cambria" panose="02040503050406030204" pitchFamily="18" charset="0"/>
                <a:ea typeface="Cambria" panose="02040503050406030204" pitchFamily="18" charset="0"/>
              </a:rPr>
              <a:t>Nous proposons de :</a:t>
            </a:r>
          </a:p>
          <a:p>
            <a:pPr marL="628650" lvl="1"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Réentraîner YOLOv8 ( </a:t>
            </a:r>
            <a:r>
              <a:rPr lang="fr-FR" sz="1200" b="1" dirty="0">
                <a:latin typeface="Cambria" panose="02040503050406030204" pitchFamily="18" charset="0"/>
                <a:ea typeface="Cambria" panose="02040503050406030204" pitchFamily="18" charset="0"/>
              </a:rPr>
              <a:t>fine-tuning</a:t>
            </a:r>
            <a:r>
              <a:rPr lang="fr-FR" sz="1200" dirty="0">
                <a:latin typeface="Cambria" panose="02040503050406030204" pitchFamily="18" charset="0"/>
                <a:ea typeface="Cambria" panose="02040503050406030204" pitchFamily="18" charset="0"/>
              </a:rPr>
              <a:t> )</a:t>
            </a:r>
          </a:p>
          <a:p>
            <a:pPr marL="628650" lvl="1"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Utiliser un jeu de données contenant d’avantage de véhicules éloignés, Petite véhicules , et de scène d’embouteillage.</a:t>
            </a:r>
          </a:p>
          <a:p>
            <a:pPr marL="628650" lvl="1" indent="-17145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Annoter précisément les images</a:t>
            </a:r>
          </a:p>
          <a:p>
            <a:pPr>
              <a:lnSpc>
                <a:spcPct val="150000"/>
              </a:lnSpc>
            </a:pPr>
            <a:endParaRPr lang="fr-FR" sz="1200" dirty="0">
              <a:latin typeface="Cambria" panose="02040503050406030204" pitchFamily="18" charset="0"/>
              <a:ea typeface="Cambria" panose="02040503050406030204" pitchFamily="18" charset="0"/>
            </a:endParaRPr>
          </a:p>
          <a:p>
            <a:pPr>
              <a:lnSpc>
                <a:spcPct val="150000"/>
              </a:lnSpc>
            </a:pPr>
            <a:endParaRPr lang="fr-FR" sz="1100" dirty="0">
              <a:latin typeface="Cambria" panose="02040503050406030204" pitchFamily="18" charset="0"/>
              <a:ea typeface="Cambria" panose="02040503050406030204" pitchFamily="18" charset="0"/>
            </a:endParaRPr>
          </a:p>
          <a:p>
            <a:pPr>
              <a:lnSpc>
                <a:spcPct val="150000"/>
              </a:lnSpc>
            </a:pPr>
            <a:endParaRPr lang="fr-FR" sz="1100" dirty="0">
              <a:latin typeface="Cambria" panose="02040503050406030204" pitchFamily="18" charset="0"/>
              <a:ea typeface="Cambria" panose="02040503050406030204" pitchFamily="18" charset="0"/>
            </a:endParaRPr>
          </a:p>
        </p:txBody>
      </p:sp>
      <p:sp>
        <p:nvSpPr>
          <p:cNvPr id="3" name="Rectangle 1">
            <a:extLst>
              <a:ext uri="{FF2B5EF4-FFF2-40B4-BE49-F238E27FC236}">
                <a16:creationId xmlns:a16="http://schemas.microsoft.com/office/drawing/2014/main" id="{0B83E324-95D9-4855-9506-1F2B7DB78762}"/>
              </a:ext>
            </a:extLst>
          </p:cNvPr>
          <p:cNvSpPr>
            <a:spLocks noChangeArrowheads="1"/>
          </p:cNvSpPr>
          <p:nvPr/>
        </p:nvSpPr>
        <p:spPr bwMode="auto">
          <a:xfrm>
            <a:off x="0" y="-207749"/>
            <a:ext cx="184731"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fr-FR" altLang="fr-FR" sz="105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22851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Rectangle 159"/>
          <p:cNvSpPr/>
          <p:nvPr/>
        </p:nvSpPr>
        <p:spPr>
          <a:xfrm>
            <a:off x="476280" y="372060"/>
            <a:ext cx="8191080" cy="6091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fr-FR" sz="2800" dirty="0">
                <a:latin typeface="Times New Roman" panose="02020603050405020304" pitchFamily="18" charset="0"/>
                <a:cs typeface="Times New Roman" panose="02020603050405020304" pitchFamily="18" charset="0"/>
              </a:rPr>
              <a:t>5. Méthodologie et Évaluation</a:t>
            </a:r>
            <a:endParaRPr lang="en-US" sz="2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62" name="Rectangle 161"/>
          <p:cNvSpPr/>
          <p:nvPr/>
        </p:nvSpPr>
        <p:spPr>
          <a:xfrm>
            <a:off x="666720" y="2133720"/>
            <a:ext cx="153324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63" name="Rectangle 162"/>
          <p:cNvSpPr/>
          <p:nvPr/>
        </p:nvSpPr>
        <p:spPr>
          <a:xfrm>
            <a:off x="666720" y="2666880"/>
            <a:ext cx="1533240" cy="1847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1200" b="0" u="none" strike="noStrike" dirty="0">
              <a:solidFill>
                <a:srgbClr val="000000"/>
              </a:solidFill>
              <a:effectLst/>
              <a:uFillTx/>
              <a:latin typeface="OpenSymbol"/>
            </a:endParaRPr>
          </a:p>
        </p:txBody>
      </p:sp>
      <p:sp>
        <p:nvSpPr>
          <p:cNvPr id="165" name="Rectangle 164"/>
          <p:cNvSpPr/>
          <p:nvPr/>
        </p:nvSpPr>
        <p:spPr>
          <a:xfrm>
            <a:off x="2714760" y="2133720"/>
            <a:ext cx="1533240" cy="704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66" name="Rectangle 165"/>
          <p:cNvSpPr/>
          <p:nvPr/>
        </p:nvSpPr>
        <p:spPr>
          <a:xfrm>
            <a:off x="2714760" y="2666880"/>
            <a:ext cx="1533240" cy="18000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1200" b="0" u="none" strike="noStrike" dirty="0">
              <a:solidFill>
                <a:srgbClr val="000000"/>
              </a:solidFill>
              <a:effectLst/>
              <a:uFillTx/>
              <a:latin typeface="OpenSymbol"/>
            </a:endParaRPr>
          </a:p>
        </p:txBody>
      </p:sp>
      <p:sp>
        <p:nvSpPr>
          <p:cNvPr id="169" name="Rectangle 168"/>
          <p:cNvSpPr/>
          <p:nvPr/>
        </p:nvSpPr>
        <p:spPr>
          <a:xfrm>
            <a:off x="4762440" y="2666880"/>
            <a:ext cx="1533240" cy="18475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1200" b="0" u="none" strike="noStrike" dirty="0">
              <a:solidFill>
                <a:srgbClr val="000000"/>
              </a:solidFill>
              <a:effectLst/>
              <a:uFillTx/>
              <a:latin typeface="OpenSymbol"/>
            </a:endParaRPr>
          </a:p>
        </p:txBody>
      </p:sp>
      <p:sp>
        <p:nvSpPr>
          <p:cNvPr id="171" name="Rectangle 170"/>
          <p:cNvSpPr/>
          <p:nvPr/>
        </p:nvSpPr>
        <p:spPr>
          <a:xfrm>
            <a:off x="6810480" y="2133720"/>
            <a:ext cx="1533240" cy="9712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172" name="Rectangle 171"/>
          <p:cNvSpPr/>
          <p:nvPr/>
        </p:nvSpPr>
        <p:spPr>
          <a:xfrm>
            <a:off x="6810480" y="2666880"/>
            <a:ext cx="1533240" cy="23428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1200" b="0" u="none" strike="noStrike" dirty="0">
              <a:solidFill>
                <a:srgbClr val="000000"/>
              </a:solidFill>
              <a:effectLst/>
              <a:uFillTx/>
              <a:latin typeface="OpenSymbol"/>
            </a:endParaRPr>
          </a:p>
        </p:txBody>
      </p:sp>
      <p:sp>
        <p:nvSpPr>
          <p:cNvPr id="2" name="ZoneTexte 1">
            <a:extLst>
              <a:ext uri="{FF2B5EF4-FFF2-40B4-BE49-F238E27FC236}">
                <a16:creationId xmlns:a16="http://schemas.microsoft.com/office/drawing/2014/main" id="{D9EF8713-EE95-467A-A91D-0EB76B96F3DC}"/>
              </a:ext>
            </a:extLst>
          </p:cNvPr>
          <p:cNvSpPr txBox="1"/>
          <p:nvPr/>
        </p:nvSpPr>
        <p:spPr>
          <a:xfrm>
            <a:off x="0" y="1017950"/>
            <a:ext cx="9080937" cy="4751685"/>
          </a:xfrm>
          <a:prstGeom prst="rect">
            <a:avLst/>
          </a:prstGeom>
          <a:noFill/>
        </p:spPr>
        <p:txBody>
          <a:bodyPr wrap="square" rtlCol="0">
            <a:spAutoFit/>
          </a:bodyPr>
          <a:lstStyle/>
          <a:p>
            <a:r>
              <a:rPr lang="fr-FR" sz="1400" dirty="0">
                <a:latin typeface="Times New Roman" panose="02020603050405020304" pitchFamily="18" charset="0"/>
                <a:ea typeface="Cambria" panose="02040503050406030204" pitchFamily="18" charset="0"/>
                <a:cs typeface="Times New Roman" panose="02020603050405020304" pitchFamily="18" charset="0"/>
              </a:rPr>
              <a:t>Étapes:</a:t>
            </a:r>
          </a:p>
          <a:p>
            <a:pPr marL="800100" lvl="1" indent="-342900">
              <a:lnSpc>
                <a:spcPct val="150000"/>
              </a:lnSpc>
              <a:buFont typeface="+mj-lt"/>
              <a:buAutoNum type="arabicPeriod"/>
            </a:pPr>
            <a:r>
              <a:rPr lang="fr-FR" sz="1200" dirty="0">
                <a:latin typeface="Cambria" panose="02040503050406030204" pitchFamily="18" charset="0"/>
                <a:ea typeface="Cambria" panose="02040503050406030204" pitchFamily="18" charset="0"/>
              </a:rPr>
              <a:t>Collecte des images.</a:t>
            </a:r>
          </a:p>
          <a:p>
            <a:pPr marL="800100" lvl="1" indent="-342900">
              <a:lnSpc>
                <a:spcPct val="150000"/>
              </a:lnSpc>
              <a:buFont typeface="+mj-lt"/>
              <a:buAutoNum type="arabicPeriod"/>
            </a:pPr>
            <a:r>
              <a:rPr lang="fr-FR" sz="1200" dirty="0">
                <a:latin typeface="Cambria" panose="02040503050406030204" pitchFamily="18" charset="0"/>
                <a:ea typeface="Cambria" panose="02040503050406030204" pitchFamily="18" charset="0"/>
              </a:rPr>
              <a:t>Annotation des véhicules</a:t>
            </a:r>
          </a:p>
          <a:p>
            <a:pPr marL="800100" lvl="1" indent="-342900">
              <a:lnSpc>
                <a:spcPct val="150000"/>
              </a:lnSpc>
              <a:buFont typeface="+mj-lt"/>
              <a:buAutoNum type="arabicPeriod"/>
            </a:pPr>
            <a:r>
              <a:rPr lang="fr-FR" sz="1200" dirty="0">
                <a:latin typeface="Cambria" panose="02040503050406030204" pitchFamily="18" charset="0"/>
                <a:ea typeface="Cambria" panose="02040503050406030204" pitchFamily="18" charset="0"/>
              </a:rPr>
              <a:t>Prétraitement et augmentation des données.</a:t>
            </a:r>
          </a:p>
          <a:p>
            <a:pPr marL="800100" lvl="1" indent="-342900">
              <a:lnSpc>
                <a:spcPct val="150000"/>
              </a:lnSpc>
              <a:buFont typeface="+mj-lt"/>
              <a:buAutoNum type="arabicPeriod"/>
            </a:pPr>
            <a:r>
              <a:rPr lang="fr-FR" sz="1200" dirty="0">
                <a:latin typeface="Cambria" panose="02040503050406030204" pitchFamily="18" charset="0"/>
                <a:ea typeface="Cambria" panose="02040503050406030204" pitchFamily="18" charset="0"/>
              </a:rPr>
              <a:t>Fine-tuning de YOLOv8.</a:t>
            </a:r>
          </a:p>
          <a:p>
            <a:pPr marL="800100" lvl="1" indent="-342900">
              <a:lnSpc>
                <a:spcPct val="150000"/>
              </a:lnSpc>
              <a:buFont typeface="+mj-lt"/>
              <a:buAutoNum type="arabicPeriod"/>
            </a:pPr>
            <a:r>
              <a:rPr lang="fr-FR" sz="1200" dirty="0">
                <a:latin typeface="Cambria" panose="02040503050406030204" pitchFamily="18" charset="0"/>
                <a:ea typeface="Cambria" panose="02040503050406030204" pitchFamily="18" charset="0"/>
              </a:rPr>
              <a:t>Fine-tuning de YOLOv8.</a:t>
            </a:r>
          </a:p>
          <a:p>
            <a:pPr marL="800100" lvl="1" indent="-342900">
              <a:lnSpc>
                <a:spcPct val="150000"/>
              </a:lnSpc>
              <a:buFont typeface="+mj-lt"/>
              <a:buAutoNum type="arabicPeriod"/>
            </a:pPr>
            <a:r>
              <a:rPr lang="fr-FR" sz="1200" dirty="0">
                <a:latin typeface="Cambria" panose="02040503050406030204" pitchFamily="18" charset="0"/>
                <a:ea typeface="Cambria" panose="02040503050406030204" pitchFamily="18" charset="0"/>
              </a:rPr>
              <a:t>Comparaison avec YOLOv8 pré-entraîné.</a:t>
            </a:r>
          </a:p>
          <a:p>
            <a:pPr>
              <a:lnSpc>
                <a:spcPct val="150000"/>
              </a:lnSpc>
            </a:pPr>
            <a:r>
              <a:rPr lang="fr-FR" sz="1400" dirty="0">
                <a:latin typeface="Times New Roman" panose="02020603050405020304" pitchFamily="18" charset="0"/>
                <a:ea typeface="Cambria" panose="02040503050406030204" pitchFamily="18" charset="0"/>
                <a:cs typeface="Times New Roman" panose="02020603050405020304" pitchFamily="18" charset="0"/>
              </a:rPr>
              <a:t>Evaluation </a:t>
            </a:r>
          </a:p>
          <a:p>
            <a:pPr>
              <a:lnSpc>
                <a:spcPct val="150000"/>
              </a:lnSpc>
            </a:pPr>
            <a:r>
              <a:rPr lang="fr-FR" sz="1200" dirty="0">
                <a:latin typeface="Cambria" panose="02040503050406030204" pitchFamily="18" charset="0"/>
                <a:ea typeface="Cambria" panose="02040503050406030204" pitchFamily="18" charset="0"/>
              </a:rPr>
              <a:t>Le modèle sera évalué à l'aide de :</a:t>
            </a:r>
          </a:p>
          <a:p>
            <a:pPr marL="685800" lvl="1" indent="-22860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hlinkClick r:id="rId2"/>
              </a:rPr>
              <a:t>mAP@0.5</a:t>
            </a:r>
            <a:endParaRPr lang="fr-FR" sz="1200" dirty="0">
              <a:latin typeface="Cambria" panose="02040503050406030204" pitchFamily="18" charset="0"/>
              <a:ea typeface="Cambria" panose="02040503050406030204" pitchFamily="18" charset="0"/>
            </a:endParaRPr>
          </a:p>
          <a:p>
            <a:pPr marL="685800" lvl="1" indent="-22860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hlinkClick r:id="rId3"/>
              </a:rPr>
              <a:t>mAP@0.5:0.95</a:t>
            </a:r>
            <a:endParaRPr lang="fr-FR" sz="1200" dirty="0">
              <a:latin typeface="Cambria" panose="02040503050406030204" pitchFamily="18" charset="0"/>
              <a:ea typeface="Cambria" panose="02040503050406030204" pitchFamily="18" charset="0"/>
            </a:endParaRPr>
          </a:p>
          <a:p>
            <a:pPr marL="685800" lvl="1" indent="-228600">
              <a:lnSpc>
                <a:spcPct val="150000"/>
              </a:lnSpc>
              <a:buFont typeface="Arial" panose="020B0604020202020204" pitchFamily="34" charset="0"/>
              <a:buChar char="•"/>
            </a:pPr>
            <a:r>
              <a:rPr lang="fr-FR" sz="1200" dirty="0" err="1">
                <a:latin typeface="Cambria" panose="02040503050406030204" pitchFamily="18" charset="0"/>
                <a:ea typeface="Cambria" panose="02040503050406030204" pitchFamily="18" charset="0"/>
              </a:rPr>
              <a:t>Precision</a:t>
            </a:r>
            <a:endParaRPr lang="fr-FR" sz="1200" dirty="0">
              <a:latin typeface="Cambria" panose="02040503050406030204" pitchFamily="18" charset="0"/>
              <a:ea typeface="Cambria" panose="02040503050406030204" pitchFamily="18" charset="0"/>
            </a:endParaRPr>
          </a:p>
          <a:p>
            <a:pPr marL="685800" lvl="1" indent="-22860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F1-score</a:t>
            </a:r>
          </a:p>
          <a:p>
            <a:pPr marL="685800" lvl="1" indent="-228600">
              <a:lnSpc>
                <a:spcPct val="150000"/>
              </a:lnSpc>
              <a:buFont typeface="Arial" panose="020B0604020202020204" pitchFamily="34" charset="0"/>
              <a:buChar char="•"/>
            </a:pPr>
            <a:r>
              <a:rPr lang="fr-FR" sz="1200" dirty="0">
                <a:latin typeface="Cambria" panose="02040503050406030204" pitchFamily="18" charset="0"/>
                <a:ea typeface="Cambria" panose="02040503050406030204" pitchFamily="18" charset="0"/>
              </a:rPr>
              <a:t>Temps d'inférence (FPS)</a:t>
            </a:r>
          </a:p>
          <a:p>
            <a:r>
              <a:rPr lang="fr-FR" sz="1200" dirty="0">
                <a:latin typeface="Cambria" panose="02040503050406030204" pitchFamily="18" charset="0"/>
                <a:ea typeface="Cambria" panose="02040503050406030204" pitchFamily="18" charset="0"/>
              </a:rPr>
              <a:t>Une comparaison sera réalisée entre : YOLOv8 pré-entraîné et YOLOv8</a:t>
            </a:r>
            <a:r>
              <a:rPr lang="fr-FR" sz="1200" b="1" dirty="0">
                <a:latin typeface="Cambria" panose="02040503050406030204" pitchFamily="18" charset="0"/>
                <a:ea typeface="Cambria" panose="02040503050406030204" pitchFamily="18" charset="0"/>
              </a:rPr>
              <a:t> fine-tuning</a:t>
            </a:r>
            <a:r>
              <a:rPr lang="fr-FR" sz="1200" dirty="0">
                <a:latin typeface="Cambria" panose="02040503050406030204" pitchFamily="18" charset="0"/>
                <a:ea typeface="Cambria" panose="02040503050406030204" pitchFamily="18" charset="0"/>
              </a:rPr>
              <a:t>.</a:t>
            </a:r>
          </a:p>
          <a:p>
            <a:r>
              <a:rPr lang="fr-FR" sz="1200" dirty="0">
                <a:latin typeface="Cambria" panose="02040503050406030204" pitchFamily="18" charset="0"/>
                <a:ea typeface="Cambria" panose="02040503050406030204" pitchFamily="18" charset="0"/>
              </a:rPr>
              <a:t> </a:t>
            </a:r>
          </a:p>
          <a:p>
            <a:r>
              <a:rPr lang="fr-FR" sz="1200" dirty="0">
                <a:latin typeface="Cambria" panose="02040503050406030204" pitchFamily="18" charset="0"/>
                <a:ea typeface="Cambria" panose="02040503050406030204" pitchFamily="18" charset="0"/>
              </a:rPr>
              <a:t>; </a:t>
            </a:r>
          </a:p>
          <a:p>
            <a:pPr marL="685800" lvl="1" indent="-228600">
              <a:lnSpc>
                <a:spcPct val="150000"/>
              </a:lnSpc>
              <a:buFont typeface="Arial" panose="020B0604020202020204" pitchFamily="34" charset="0"/>
              <a:buChar char="•"/>
            </a:pPr>
            <a:endParaRPr lang="fr-FR" sz="1200" dirty="0">
              <a:latin typeface="Cambria" panose="02040503050406030204" pitchFamily="18" charset="0"/>
              <a:ea typeface="Cambria" panose="020405030504060302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113"/>
          <p:cNvSpPr/>
          <p:nvPr/>
        </p:nvSpPr>
        <p:spPr>
          <a:xfrm>
            <a:off x="0" y="650730"/>
            <a:ext cx="4095360" cy="657807"/>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25000" lnSpcReduction="20000"/>
          </a:bodyPr>
          <a:lstStyle/>
          <a:p>
            <a:pPr defTabSz="914400">
              <a:lnSpc>
                <a:spcPct val="100000"/>
              </a:lnSpc>
              <a:tabLst>
                <a:tab pos="0" algn="l"/>
              </a:tabLst>
            </a:pPr>
            <a:r>
              <a:rPr lang="fr-FR" sz="2400" b="0" i="0" dirty="0">
                <a:solidFill>
                  <a:srgbClr val="000000"/>
                </a:solidFill>
                <a:effectLst/>
                <a:latin typeface="Times New Roman" panose="02020603050405020304" pitchFamily="18" charset="0"/>
              </a:rPr>
              <a:t>​</a:t>
            </a:r>
            <a:r>
              <a:rPr lang="fr-FR" sz="9600" b="0" i="0" dirty="0">
                <a:solidFill>
                  <a:srgbClr val="000000"/>
                </a:solidFill>
                <a:effectLst/>
                <a:latin typeface="Times New Roman" panose="02020603050405020304" pitchFamily="18" charset="0"/>
                <a:cs typeface="Times New Roman" panose="02020603050405020304" pitchFamily="18" charset="0"/>
              </a:rPr>
              <a:t>6</a:t>
            </a:r>
            <a:r>
              <a:rPr lang="fr-FR" sz="9600" dirty="0">
                <a:solidFill>
                  <a:srgbClr val="000000"/>
                </a:solidFill>
                <a:latin typeface="Times New Roman" panose="02020603050405020304" pitchFamily="18" charset="0"/>
                <a:cs typeface="Times New Roman" panose="02020603050405020304" pitchFamily="18" charset="0"/>
              </a:rPr>
              <a:t>. </a:t>
            </a:r>
            <a:r>
              <a:rPr lang="fr-FR" sz="9600" dirty="0">
                <a:latin typeface="Times New Roman" panose="02020603050405020304" pitchFamily="18" charset="0"/>
                <a:cs typeface="Times New Roman" panose="02020603050405020304" pitchFamily="18" charset="0"/>
              </a:rPr>
              <a:t>Résultats attendus et conclusion</a:t>
            </a:r>
            <a:endParaRPr lang="en-US" sz="96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
        <p:nvSpPr>
          <p:cNvPr id="115" name="Rectangle 114"/>
          <p:cNvSpPr/>
          <p:nvPr/>
        </p:nvSpPr>
        <p:spPr>
          <a:xfrm>
            <a:off x="-31087" y="1308537"/>
            <a:ext cx="4240925" cy="3499943"/>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50000"/>
              </a:lnSpc>
              <a:tabLst>
                <a:tab pos="0" algn="l"/>
              </a:tabLst>
            </a:pPr>
            <a:r>
              <a:rPr lang="fr-FR" sz="1200" b="1" dirty="0">
                <a:latin typeface="Times New Roman" panose="02020603050405020304" pitchFamily="18" charset="0"/>
                <a:cs typeface="Times New Roman" panose="02020603050405020304" pitchFamily="18" charset="0"/>
              </a:rPr>
              <a:t>Résultats attendus</a:t>
            </a:r>
          </a:p>
          <a:p>
            <a:pPr marL="171450" indent="-171450" defTabSz="914400">
              <a:lnSpc>
                <a:spcPct val="150000"/>
              </a:lnSpc>
              <a:buFont typeface="Arial" panose="020B0604020202020204" pitchFamily="34" charset="0"/>
              <a:buChar char="•"/>
              <a:tabLst>
                <a:tab pos="0" algn="l"/>
              </a:tabLst>
            </a:pPr>
            <a:r>
              <a:rPr lang="fr-FR" sz="1200" dirty="0">
                <a:latin typeface="Cambria" panose="02040503050406030204" pitchFamily="18" charset="0"/>
                <a:ea typeface="Cambria" panose="02040503050406030204" pitchFamily="18" charset="0"/>
              </a:rPr>
              <a:t>meilleure détection des véhicules éloignés ;</a:t>
            </a:r>
          </a:p>
          <a:p>
            <a:pPr marL="171450" indent="-171450" defTabSz="914400">
              <a:lnSpc>
                <a:spcPct val="150000"/>
              </a:lnSpc>
              <a:buFont typeface="Arial" panose="020B0604020202020204" pitchFamily="34" charset="0"/>
              <a:buChar char="•"/>
              <a:tabLst>
                <a:tab pos="0" algn="l"/>
              </a:tabLst>
            </a:pPr>
            <a:r>
              <a:rPr lang="fr-FR" sz="1200" dirty="0">
                <a:latin typeface="Cambria" panose="02040503050406030204" pitchFamily="18" charset="0"/>
                <a:ea typeface="Cambria" panose="02040503050406030204" pitchFamily="18" charset="0"/>
              </a:rPr>
              <a:t>meilleure détection des petits véhicules ;</a:t>
            </a:r>
          </a:p>
          <a:p>
            <a:pPr marL="171450" indent="-171450" defTabSz="914400">
              <a:lnSpc>
                <a:spcPct val="150000"/>
              </a:lnSpc>
              <a:buFont typeface="Arial" panose="020B0604020202020204" pitchFamily="34" charset="0"/>
              <a:buChar char="•"/>
              <a:tabLst>
                <a:tab pos="0" algn="l"/>
              </a:tabLst>
            </a:pPr>
            <a:r>
              <a:rPr lang="fr-FR" sz="1200" dirty="0">
                <a:latin typeface="Cambria" panose="02040503050406030204" pitchFamily="18" charset="0"/>
                <a:ea typeface="Cambria" panose="02040503050406030204" pitchFamily="18" charset="0"/>
              </a:rPr>
              <a:t>meilleure détection dans les embouteillages;</a:t>
            </a:r>
          </a:p>
          <a:p>
            <a:pPr marL="171450" indent="-171450" defTabSz="914400">
              <a:lnSpc>
                <a:spcPct val="150000"/>
              </a:lnSpc>
              <a:buFont typeface="Arial" panose="020B0604020202020204" pitchFamily="34" charset="0"/>
              <a:buChar char="•"/>
              <a:tabLst>
                <a:tab pos="0" algn="l"/>
              </a:tabLst>
            </a:pPr>
            <a:r>
              <a:rPr lang="fr-FR" sz="1200" dirty="0">
                <a:latin typeface="Cambria" panose="02040503050406030204" pitchFamily="18" charset="0"/>
                <a:ea typeface="Cambria" panose="02040503050406030204" pitchFamily="18" charset="0"/>
              </a:rPr>
              <a:t>Augmentation du </a:t>
            </a:r>
            <a:r>
              <a:rPr lang="fr-FR" sz="1200" dirty="0" err="1">
                <a:latin typeface="Cambria" panose="02040503050406030204" pitchFamily="18" charset="0"/>
                <a:ea typeface="Cambria" panose="02040503050406030204" pitchFamily="18" charset="0"/>
              </a:rPr>
              <a:t>mAP</a:t>
            </a:r>
            <a:r>
              <a:rPr lang="fr-FR" sz="1200" dirty="0">
                <a:latin typeface="Cambria" panose="02040503050406030204" pitchFamily="18" charset="0"/>
                <a:ea typeface="Cambria" panose="02040503050406030204" pitchFamily="18" charset="0"/>
              </a:rPr>
              <a:t>, du </a:t>
            </a:r>
            <a:r>
              <a:rPr lang="fr-FR" sz="1200" dirty="0" err="1">
                <a:latin typeface="Cambria" panose="02040503050406030204" pitchFamily="18" charset="0"/>
                <a:ea typeface="Cambria" panose="02040503050406030204" pitchFamily="18" charset="0"/>
              </a:rPr>
              <a:t>Recall</a:t>
            </a:r>
            <a:r>
              <a:rPr lang="fr-FR" sz="1200" dirty="0">
                <a:latin typeface="Cambria" panose="02040503050406030204" pitchFamily="18" charset="0"/>
                <a:ea typeface="Cambria" panose="02040503050406030204" pitchFamily="18" charset="0"/>
              </a:rPr>
              <a:t> et de la Précision</a:t>
            </a:r>
          </a:p>
          <a:p>
            <a:pPr marL="171450" indent="-171450" defTabSz="914400">
              <a:lnSpc>
                <a:spcPct val="150000"/>
              </a:lnSpc>
              <a:buFont typeface="Arial" panose="020B0604020202020204" pitchFamily="34" charset="0"/>
              <a:buChar char="•"/>
              <a:tabLst>
                <a:tab pos="0" algn="l"/>
              </a:tabLst>
            </a:pPr>
            <a:r>
              <a:rPr lang="fr-FR" sz="1200" dirty="0"/>
              <a:t>réduction du nombre de véhicules non détectés.</a:t>
            </a:r>
          </a:p>
          <a:p>
            <a:pPr defTabSz="914400">
              <a:lnSpc>
                <a:spcPct val="150000"/>
              </a:lnSpc>
              <a:tabLst>
                <a:tab pos="0" algn="l"/>
              </a:tabLst>
            </a:pPr>
            <a:r>
              <a:rPr lang="fr-FR" sz="1200" b="1" dirty="0">
                <a:latin typeface="Cambria" panose="02040503050406030204" pitchFamily="18" charset="0"/>
                <a:ea typeface="Cambria" panose="02040503050406030204" pitchFamily="18" charset="0"/>
                <a:cs typeface="Times New Roman" panose="02020603050405020304" pitchFamily="18" charset="0"/>
              </a:rPr>
              <a:t>Conclusion </a:t>
            </a:r>
          </a:p>
          <a:p>
            <a:pPr defTabSz="914400">
              <a:lnSpc>
                <a:spcPct val="150000"/>
              </a:lnSpc>
              <a:tabLst>
                <a:tab pos="0" algn="l"/>
              </a:tabLst>
            </a:pPr>
            <a:r>
              <a:rPr lang="fr-FR" sz="1200" dirty="0">
                <a:latin typeface="Cambria" panose="02040503050406030204" pitchFamily="18" charset="0"/>
                <a:ea typeface="Cambria" panose="02040503050406030204" pitchFamily="18" charset="0"/>
              </a:rPr>
              <a:t>Cette étude vise à adapter YOLOv8 aux spécificités du trafic urbain béninois. En l'entraînant sur des données représentatives, nous espérons obtenir un système de détection plus robuste, capable d'améliorer la surveillance routière et la gestion intelligente du trafic.</a:t>
            </a:r>
            <a:endParaRPr lang="fr-FR" sz="1200" b="1" dirty="0">
              <a:latin typeface="Cambria" panose="02040503050406030204" pitchFamily="18" charset="0"/>
              <a:ea typeface="Cambria" panose="02040503050406030204" pitchFamily="18" charset="0"/>
              <a:cs typeface="Times New Roman" panose="02020603050405020304" pitchFamily="18" charset="0"/>
            </a:endParaRPr>
          </a:p>
          <a:p>
            <a:pPr defTabSz="914400">
              <a:lnSpc>
                <a:spcPct val="150000"/>
              </a:lnSpc>
              <a:tabLst>
                <a:tab pos="0" algn="l"/>
              </a:tabLst>
            </a:pPr>
            <a:endParaRPr lang="fr-FR" sz="1200" b="1" i="0" dirty="0">
              <a:solidFill>
                <a:srgbClr val="000000"/>
              </a:solidFill>
              <a:effectLst/>
              <a:latin typeface="Times New Roman" panose="02020603050405020304" pitchFamily="18" charset="0"/>
              <a:cs typeface="Times New Roman" panose="02020603050405020304" pitchFamily="18" charset="0"/>
            </a:endParaRPr>
          </a:p>
          <a:p>
            <a:pPr defTabSz="914400">
              <a:lnSpc>
                <a:spcPct val="150000"/>
              </a:lnSpc>
              <a:tabLst>
                <a:tab pos="0" algn="l"/>
              </a:tabLst>
            </a:pPr>
            <a:br>
              <a:rPr lang="fr-FR" sz="1200" dirty="0">
                <a:latin typeface="Times New Roman" panose="02020603050405020304" pitchFamily="18" charset="0"/>
                <a:cs typeface="Times New Roman" panose="02020603050405020304" pitchFamily="18" charset="0"/>
              </a:rPr>
            </a:br>
            <a:r>
              <a:rPr lang="fr-FR" sz="1200" b="0" i="0" dirty="0">
                <a:solidFill>
                  <a:srgbClr val="000000"/>
                </a:solidFill>
                <a:effectLst/>
                <a:latin typeface="Times New Roman" panose="02020603050405020304" pitchFamily="18" charset="0"/>
                <a:cs typeface="Times New Roman" panose="02020603050405020304" pitchFamily="18" charset="0"/>
              </a:rPr>
              <a:t>​</a:t>
            </a:r>
            <a:endParaRPr lang="en-US" sz="1200" b="0" u="none" strike="noStrike" dirty="0">
              <a:solidFill>
                <a:srgbClr val="000000"/>
              </a:solidFill>
              <a:effectLst/>
              <a:uFillTx/>
              <a:latin typeface="Times New Roman" panose="02020603050405020304" pitchFamily="18" charset="0"/>
              <a:cs typeface="Times New Roman" panose="02020603050405020304" pitchFamily="18" charset="0"/>
            </a:endParaRPr>
          </a:p>
        </p:txBody>
      </p:sp>
      <p:pic>
        <p:nvPicPr>
          <p:cNvPr id="8" name="Image 7">
            <a:extLst>
              <a:ext uri="{FF2B5EF4-FFF2-40B4-BE49-F238E27FC236}">
                <a16:creationId xmlns:a16="http://schemas.microsoft.com/office/drawing/2014/main" id="{F4E559A7-4E40-4CC5-B154-A90E5E01C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0926" y="-102476"/>
            <a:ext cx="4903074" cy="5143500"/>
          </a:xfrm>
          <a:prstGeom prst="flowChartMagneticTape">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7471A06-B7B2-489D-B18F-5B3C45AEAD6A}"/>
              </a:ext>
            </a:extLst>
          </p:cNvPr>
          <p:cNvSpPr txBox="1"/>
          <p:nvPr/>
        </p:nvSpPr>
        <p:spPr>
          <a:xfrm>
            <a:off x="1649185" y="1975757"/>
            <a:ext cx="5845629" cy="523220"/>
          </a:xfrm>
          <a:prstGeom prst="rect">
            <a:avLst/>
          </a:prstGeom>
          <a:noFill/>
        </p:spPr>
        <p:txBody>
          <a:bodyPr wrap="square" rtlCol="0">
            <a:spAutoFit/>
          </a:bodyPr>
          <a:lstStyle/>
          <a:p>
            <a:r>
              <a:rPr lang="fr-FR" sz="2800" dirty="0">
                <a:latin typeface="Times New Roman" panose="02020603050405020304" pitchFamily="18" charset="0"/>
                <a:cs typeface="Times New Roman" panose="02020603050405020304" pitchFamily="18" charset="0"/>
              </a:rPr>
              <a:t>MERCI POUR VOTRE ATTENTION</a:t>
            </a:r>
          </a:p>
        </p:txBody>
      </p:sp>
      <p:sp>
        <p:nvSpPr>
          <p:cNvPr id="3" name="Étoile : 5 branches 2">
            <a:extLst>
              <a:ext uri="{FF2B5EF4-FFF2-40B4-BE49-F238E27FC236}">
                <a16:creationId xmlns:a16="http://schemas.microsoft.com/office/drawing/2014/main" id="{E19C0E29-4297-465A-A51F-A053D6BF2969}"/>
              </a:ext>
            </a:extLst>
          </p:cNvPr>
          <p:cNvSpPr/>
          <p:nvPr/>
        </p:nvSpPr>
        <p:spPr>
          <a:xfrm>
            <a:off x="1649185" y="1681843"/>
            <a:ext cx="334736" cy="293914"/>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Étoile : 5 branches 3">
            <a:extLst>
              <a:ext uri="{FF2B5EF4-FFF2-40B4-BE49-F238E27FC236}">
                <a16:creationId xmlns:a16="http://schemas.microsoft.com/office/drawing/2014/main" id="{C603257E-28DD-448C-BC3E-6CD351F178E0}"/>
              </a:ext>
            </a:extLst>
          </p:cNvPr>
          <p:cNvSpPr/>
          <p:nvPr/>
        </p:nvSpPr>
        <p:spPr>
          <a:xfrm>
            <a:off x="7029450" y="1681843"/>
            <a:ext cx="334736" cy="293914"/>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Étoile : 5 branches 7">
            <a:extLst>
              <a:ext uri="{FF2B5EF4-FFF2-40B4-BE49-F238E27FC236}">
                <a16:creationId xmlns:a16="http://schemas.microsoft.com/office/drawing/2014/main" id="{22E4B85F-E37E-49D8-876D-BB9F96A9A0E4}"/>
              </a:ext>
            </a:extLst>
          </p:cNvPr>
          <p:cNvSpPr/>
          <p:nvPr/>
        </p:nvSpPr>
        <p:spPr>
          <a:xfrm>
            <a:off x="1801585" y="1834243"/>
            <a:ext cx="334736" cy="293914"/>
          </a:xfrm>
          <a:prstGeom prst="star5">
            <a:avLst>
              <a:gd name="adj" fmla="val 0"/>
              <a:gd name="hf" fmla="val 105146"/>
              <a:gd name="vf" fmla="val 11055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Étoile : 5 branches 5">
            <a:extLst>
              <a:ext uri="{FF2B5EF4-FFF2-40B4-BE49-F238E27FC236}">
                <a16:creationId xmlns:a16="http://schemas.microsoft.com/office/drawing/2014/main" id="{3B2F34F6-3A30-4209-9BEE-25A01BAD1B29}"/>
              </a:ext>
            </a:extLst>
          </p:cNvPr>
          <p:cNvSpPr/>
          <p:nvPr/>
        </p:nvSpPr>
        <p:spPr>
          <a:xfrm>
            <a:off x="1664152" y="2426480"/>
            <a:ext cx="334736" cy="318407"/>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Étoile : 5 branches 6">
            <a:extLst>
              <a:ext uri="{FF2B5EF4-FFF2-40B4-BE49-F238E27FC236}">
                <a16:creationId xmlns:a16="http://schemas.microsoft.com/office/drawing/2014/main" id="{52AEA1DF-8D19-4C1C-A85A-5CE35C6D426F}"/>
              </a:ext>
            </a:extLst>
          </p:cNvPr>
          <p:cNvSpPr/>
          <p:nvPr/>
        </p:nvSpPr>
        <p:spPr>
          <a:xfrm>
            <a:off x="7029449" y="2440415"/>
            <a:ext cx="334737" cy="290538"/>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246433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C6C6C6"/>
      </a:dk1>
      <a:lt1>
        <a:sysClr val="window" lastClr="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C6C6C6"/>
      </a:dk1>
      <a:lt1>
        <a:sysClr val="window" lastClr="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442</TotalTime>
  <Words>583</Words>
  <Application>Microsoft Office PowerPoint</Application>
  <PresentationFormat>Affichage à l'écran (16:9)</PresentationFormat>
  <Paragraphs>94</Paragraphs>
  <Slides>8</Slides>
  <Notes>1</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8</vt:i4>
      </vt:variant>
    </vt:vector>
  </HeadingPairs>
  <TitlesOfParts>
    <vt:vector size="17" baseType="lpstr">
      <vt:lpstr>Arial</vt:lpstr>
      <vt:lpstr>Calibri</vt:lpstr>
      <vt:lpstr>Calibri Light</vt:lpstr>
      <vt:lpstr>Cambria</vt:lpstr>
      <vt:lpstr>OpenSymbol</vt:lpstr>
      <vt:lpstr>Symbol</vt:lpstr>
      <vt:lpstr>Times New Roman</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Omotola AFOUDA</cp:lastModifiedBy>
  <cp:revision>29</cp:revision>
  <dcterms:modified xsi:type="dcterms:W3CDTF">2026-08-02T20:09:10Z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2026-07-31T13:38:23Z</dcterms:created>
  <dc:creator>Slidesgo AI</dc:creator>
  <dc:description/>
  <dc:language>en-US</dc:language>
  <cp:lastModifiedBy>Unknown Creator</cp:lastModifiedBy>
  <dcterms:modified xsi:type="dcterms:W3CDTF">2026-07-31T13:38:23Z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10</vt:r8>
  </property>
  <property fmtid="{D5CDD505-2E9C-101B-9397-08002B2CF9AE}" pid="3" name="SlidesgoGeneratedBy">
    <vt:lpwstr>slidesgo-ai</vt:lpwstr>
  </property>
  <property fmtid="{D5CDD505-2E9C-101B-9397-08002B2CF9AE}" pid="4" name="SlidesgoPresentationUuid">
    <vt:lpwstr>a2640571-dc8d-449c-ad6d-7deee4358a6f</vt:lpwstr>
  </property>
</Properties>
</file>