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D41193-8510-4928-BEF1-230BFE01B3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716E1E-EA6C-4300-87F8-53B74F095D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39148D4-6F30-4AA4-975E-0D73DBC598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8D0455D-9F49-4B19-9065-A31CB25486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176FBD7-2E96-4E70-B983-F9F0D5828A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7101F64-7BB9-4519-9E66-785133358A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A8C831A-E4F0-4464-8191-0BFB2CA54A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92DD01A-9600-43D1-B906-D4AC7292A0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44603E8-385B-4042-832F-A9E73C7CB9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936508F-B504-4E2D-AE8C-6CD021286C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0A87F80-69B2-4CD4-BE86-F2B15AA738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AC7A64-9DCC-4A9C-8B85-07987E365E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029D7F-A773-4541-8FF1-4F3F41FDA1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C0A9FE-4EA9-44CE-8B65-694D2435EB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CCF1997-D768-4C40-8124-4F2EE9E080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9137CD-DAD7-464B-9ED1-523E6CCDD5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EDD12FE-BD4F-483D-B280-E381EBB69A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E5A8B6-DF34-46D1-9E3B-95851A5094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82FF38-0D2F-4A9C-B900-43FE0A1258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E6DB747-12C9-441E-B6D2-9514523C21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8195F2-1DA1-4C7A-9721-A3E3972796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9EAEAE-23A0-4D6D-9BAD-466842F827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731520" y="2011680"/>
            <a:ext cx="136440" cy="29253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1097280" y="1828800"/>
            <a:ext cx="10057680" cy="32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3498db"/>
                </a:solidFill>
                <a:latin typeface="Calibri"/>
              </a:rPr>
              <a:t>Projet Intégrateur 1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00"/>
              </a:spcBef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Vidéoprotection intelligente et vidéo-verbalisation par Computer Vision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999"/>
              </a:spcBef>
            </a:pPr>
            <a:r>
              <a:rPr b="1" lang="en-US" sz="2000" spc="-1" strike="noStrike">
                <a:solidFill>
                  <a:srgbClr val="3498db"/>
                </a:solidFill>
                <a:latin typeface="Calibri"/>
              </a:rPr>
              <a:t>Présenté par :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Aïchatou TRAORE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Benoît DJOSSOU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Omotola AFOUDA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MISE EN CONTEXTE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1. Introduction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26240" y="1954440"/>
            <a:ext cx="533340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282828"/>
                </a:solidFill>
                <a:latin typeface="Calibri"/>
              </a:rPr>
              <a:t>La sécurité routière est un défi majeur dans de nombreux pays. Les méthodes de surveillance traditionnelles reposent principalement sur l'intervention humaine, ce qui peut être lent et source d'erreurs.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60000" y="3780000"/>
            <a:ext cx="5270760" cy="19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b3c5d"/>
                </a:solidFill>
                <a:latin typeface="Calibri"/>
              </a:rPr>
              <a:t>Grâce à l'Intelligence Artificielle et à la Vision par Ordinateur (Computer Vision), il est aujourd'hui possible d'automatiser la surveillance du trafic, de détecter les infractions et de générer automatiquement les preuves nécessaires à la verbalisation.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 rot="21563400">
            <a:off x="5603040" y="1114200"/>
            <a:ext cx="6565320" cy="437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OBJECTIFS CLÉS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2. Objectif du projet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701280" y="1555200"/>
            <a:ext cx="73983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b3c5d"/>
                </a:solidFill>
                <a:latin typeface="Calibri"/>
              </a:rPr>
              <a:t>L'objectif est de développer un système intelligent capable de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805320" y="2340000"/>
            <a:ext cx="44143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détecter automatiquement les véhicules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810000" y="3036600"/>
            <a:ext cx="4229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suivre chaque véhicule dans une vidéo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861840" y="3780000"/>
            <a:ext cx="45378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reconnaître les plaques d'immatriculation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884880" y="4500000"/>
            <a:ext cx="43347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identifier certaines infractions routières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00000" y="5196600"/>
            <a:ext cx="580104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produire automatiquement un rapport de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verbalisation.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20000" y="2340000"/>
            <a:ext cx="360" cy="324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5760000" y="2083680"/>
            <a:ext cx="6353280" cy="403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ARCHITECTURE &amp; ÉTAPES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3. Fonctionnement général du système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731520" y="164592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8d2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1. Acquisition de la vidéo par une caméra.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ounded Rectangle 3"/>
          <p:cNvSpPr/>
          <p:nvPr/>
        </p:nvSpPr>
        <p:spPr>
          <a:xfrm>
            <a:off x="731520" y="283464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8d2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2. Détection des véhicules grâce à YOLOv8.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ounded Rectangle 4"/>
          <p:cNvSpPr/>
          <p:nvPr/>
        </p:nvSpPr>
        <p:spPr>
          <a:xfrm>
            <a:off x="731520" y="402336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8d2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3. Suivi de chaque véhicule avec DeepSORT.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5"/>
          <p:cNvSpPr/>
          <p:nvPr/>
        </p:nvSpPr>
        <p:spPr>
          <a:xfrm>
            <a:off x="731520" y="521208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8d2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4. Localisation de la plaque d'immatriculation.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6217920" y="164592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5. Lecture automatique de la plaque grâce à l'OCR (ANPR).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6217920" y="283464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6. Analyse des comportements.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6217920" y="402336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7. Détection des infractions.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ounded Rectangle 9"/>
          <p:cNvSpPr/>
          <p:nvPr/>
        </p:nvSpPr>
        <p:spPr>
          <a:xfrm>
            <a:off x="6217920" y="5212080"/>
            <a:ext cx="521136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8. Génération d'un rapport avec image, heure, plaque et type d'infraction.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TECHNOLOGIES UTILISÉES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YOLOv8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2"/>
          <p:cNvSpPr/>
          <p:nvPr/>
        </p:nvSpPr>
        <p:spPr>
          <a:xfrm>
            <a:off x="180000" y="1243440"/>
            <a:ext cx="7740000" cy="736560"/>
          </a:xfrm>
          <a:prstGeom prst="roundRect">
            <a:avLst>
              <a:gd name="adj" fmla="val 16667"/>
            </a:avLst>
          </a:prstGeom>
          <a:solidFill>
            <a:srgbClr val="0b3c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YOLOv8 est un modèle de détection d'objets en temps réel.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695520" y="2520000"/>
            <a:ext cx="4164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82828"/>
                </a:solidFill>
                <a:latin typeface="Calibri"/>
              </a:rPr>
              <a:t>Il permet de reconnaître rapidement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4"/>
          <p:cNvSpPr/>
          <p:nvPr/>
        </p:nvSpPr>
        <p:spPr>
          <a:xfrm>
            <a:off x="731520" y="3060000"/>
            <a:ext cx="2328480" cy="252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Voitures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Motos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Camions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Bus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piétons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98720" y="5760000"/>
            <a:ext cx="32212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3498db"/>
                </a:solidFill>
                <a:latin typeface="Calibri"/>
              </a:rPr>
              <a:t>Son principal avantage est sa rapidité et sa précision.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4860000" y="2160000"/>
            <a:ext cx="7332120" cy="45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TECHNOLOGIES UTILISÉES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DeepSORT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2"/>
          <p:cNvSpPr/>
          <p:nvPr/>
        </p:nvSpPr>
        <p:spPr>
          <a:xfrm>
            <a:off x="731520" y="1828800"/>
            <a:ext cx="10728000" cy="182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b3c5d"/>
                </a:solidFill>
                <a:latin typeface="Calibri"/>
              </a:rPr>
              <a:t>Après la détection, DeepSORT attribue un identifiant unique à chaque véhicule.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731520" y="4114800"/>
            <a:ext cx="10728000" cy="1828080"/>
          </a:xfrm>
          <a:prstGeom prst="roundRect">
            <a:avLst>
              <a:gd name="adj" fmla="val 16667"/>
            </a:avLst>
          </a:prstGeom>
          <a:solidFill>
            <a:srgbClr val="0b3c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Même lorsqu'un véhicule se déplace ou est momentanément caché, le système continue à le suivre correctement.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TECHNOLOGIES UTILISÉES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ANPR (Automatic Number Plate Recognition)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1260000" y="1440000"/>
            <a:ext cx="2193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b3c5d"/>
                </a:solidFill>
                <a:latin typeface="Calibri"/>
              </a:rPr>
              <a:t>L'ANPR permet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3"/>
          <p:cNvSpPr/>
          <p:nvPr/>
        </p:nvSpPr>
        <p:spPr>
          <a:xfrm>
            <a:off x="360000" y="2380320"/>
            <a:ext cx="5760000" cy="337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282828"/>
                </a:solidFill>
                <a:latin typeface="Calibri"/>
              </a:rPr>
              <a:t>de localiser la plaque d'immatriculation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282828"/>
                </a:solidFill>
                <a:latin typeface="Calibri"/>
              </a:rPr>
              <a:t>d'extraire l'image de la plaque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282828"/>
                </a:solidFill>
                <a:latin typeface="Calibri"/>
              </a:rPr>
              <a:t>de préparer la lecture des caractères.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6480000" y="1260000"/>
            <a:ext cx="5580000" cy="525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TECHNOLOGIES UTILISÉES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OCR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2"/>
          <p:cNvSpPr/>
          <p:nvPr/>
        </p:nvSpPr>
        <p:spPr>
          <a:xfrm>
            <a:off x="731520" y="1645920"/>
            <a:ext cx="10728000" cy="1370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8d2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b3c5d"/>
                </a:solidFill>
                <a:latin typeface="Calibri"/>
              </a:rPr>
              <a:t>L'OCR (Reconnaissance Optique de Caractères) transforme l'image de la plaque en texte.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3"/>
          <p:cNvSpPr/>
          <p:nvPr/>
        </p:nvSpPr>
        <p:spPr>
          <a:xfrm>
            <a:off x="731520" y="3383280"/>
            <a:ext cx="10728000" cy="2559600"/>
          </a:xfrm>
          <a:prstGeom prst="roundRect">
            <a:avLst>
              <a:gd name="adj" fmla="val 16667"/>
            </a:avLst>
          </a:prstGeom>
          <a:solidFill>
            <a:srgbClr val="0b3c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3498db"/>
                </a:solidFill>
                <a:latin typeface="Calibri"/>
              </a:rPr>
              <a:t>Par exemple :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BJ 2458 AB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200" spc="-1" strike="noStrike">
                <a:solidFill>
                  <a:srgbClr val="ffffff"/>
                </a:solidFill>
                <a:latin typeface="Calibri"/>
              </a:rPr>
              <a:t>devient une information exploitable par le système.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ANALYSE &amp; ENREGISTREMENT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5. Détection des infractions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2"/>
          <p:cNvSpPr/>
          <p:nvPr/>
        </p:nvSpPr>
        <p:spPr>
          <a:xfrm>
            <a:off x="731520" y="1645920"/>
            <a:ext cx="5119920" cy="457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8d2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c5d"/>
                </a:solidFill>
                <a:latin typeface="Calibri"/>
              </a:rPr>
              <a:t>Le système peut reconnaître plusieurs infractions, notamment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excès de vitesse 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franchissement d'un feu rouge 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circulation sur une voie interdite 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stationnement interdit 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non-respect de certaines règles de circulation.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3"/>
          <p:cNvSpPr/>
          <p:nvPr/>
        </p:nvSpPr>
        <p:spPr>
          <a:xfrm>
            <a:off x="6217920" y="1645920"/>
            <a:ext cx="5241600" cy="4571280"/>
          </a:xfrm>
          <a:prstGeom prst="roundRect">
            <a:avLst>
              <a:gd name="adj" fmla="val 16667"/>
            </a:avLst>
          </a:prstGeom>
          <a:solidFill>
            <a:srgbClr val="0b3c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3498db"/>
                </a:solidFill>
                <a:latin typeface="Calibri"/>
              </a:rPr>
              <a:t>Chaque infraction est enregistrée avec :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✔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la plaque ;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✔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la date ;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✔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l'heure ;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✔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l'image de preuve.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PRÉREQUIS &amp; ENTRAÎNEMENT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6. Données nécessaires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3607920" y="1645920"/>
            <a:ext cx="4975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b3c5d"/>
                </a:solidFill>
                <a:latin typeface="Calibri"/>
              </a:rPr>
              <a:t>Le développement du système nécessite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3"/>
          <p:cNvSpPr/>
          <p:nvPr/>
        </p:nvSpPr>
        <p:spPr>
          <a:xfrm>
            <a:off x="731520" y="2468880"/>
            <a:ext cx="10728000" cy="257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des vidéos de circulation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des images annotées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des bases de données de plaques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des données représentant différentes conditions (jour, nuit, pluie, embouteillages).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BÉNÉFICES DU SYSTÈME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7. Avantages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215960" y="1645920"/>
            <a:ext cx="3759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b3c5d"/>
                </a:solidFill>
                <a:latin typeface="Calibri"/>
              </a:rPr>
              <a:t>Les principaux avantages sont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3"/>
          <p:cNvSpPr/>
          <p:nvPr/>
        </p:nvSpPr>
        <p:spPr>
          <a:xfrm>
            <a:off x="1620000" y="2520000"/>
            <a:ext cx="8280000" cy="338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4dcc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  <a:ea typeface="Noto Sans CJK SC"/>
              </a:rPr>
              <a:t>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surveillance automatique 24h/24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  <a:ea typeface="Noto Sans CJK SC"/>
              </a:rPr>
              <a:t>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réduction des erreurs humaines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amélioration de la sécurité routière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traitement rapide des infractions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aide à la prise de décision des autorités.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731520" y="457200"/>
            <a:ext cx="1072800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98db"/>
                </a:solidFill>
                <a:latin typeface="Calibri"/>
              </a:rPr>
              <a:t>DÉFIS &amp; CONTRAINTES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b3c5d"/>
                </a:solidFill>
                <a:latin typeface="Calibri"/>
              </a:rPr>
              <a:t>8. Limites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3027240" y="1645920"/>
            <a:ext cx="6136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b3c5d"/>
                </a:solidFill>
                <a:latin typeface="Calibri"/>
                <a:ea typeface="Noto Sans CJK SC"/>
              </a:rPr>
              <a:t>Quelques limites doivent être prises en compte :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⚠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3"/>
          <p:cNvSpPr/>
          <p:nvPr/>
        </p:nvSpPr>
        <p:spPr>
          <a:xfrm>
            <a:off x="900000" y="2520000"/>
            <a:ext cx="8640000" cy="39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6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mauvaise qualité des images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pluie ou brouillard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plaques sales ou masquées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faible éclairage ;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 </a:t>
            </a:r>
            <a:r>
              <a:rPr b="0" lang="en-US" sz="1900" spc="-1" strike="noStrike">
                <a:solidFill>
                  <a:srgbClr val="282828"/>
                </a:solidFill>
                <a:latin typeface="Calibri"/>
              </a:rPr>
              <a:t>respect de la vie privée et protection des données personnelles.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4743360" y="731520"/>
            <a:ext cx="2704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9. Conclusion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2"/>
          <p:cNvSpPr/>
          <p:nvPr/>
        </p:nvSpPr>
        <p:spPr>
          <a:xfrm>
            <a:off x="731520" y="2011680"/>
            <a:ext cx="1072800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b3c5d"/>
                </a:solidFill>
                <a:latin typeface="Calibri"/>
              </a:rPr>
              <a:t>La combinaison de YOLOv8, DeepSORT et de l'ANPR permet de construire un système intelligent de surveillance routière.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3"/>
          <p:cNvSpPr/>
          <p:nvPr/>
        </p:nvSpPr>
        <p:spPr>
          <a:xfrm>
            <a:off x="731520" y="3657600"/>
            <a:ext cx="10728000" cy="2010960"/>
          </a:xfrm>
          <a:prstGeom prst="roundRect">
            <a:avLst>
              <a:gd name="adj" fmla="val 16667"/>
            </a:avLst>
          </a:prstGeom>
          <a:solidFill>
            <a:srgbClr val="145078"/>
          </a:solidFill>
          <a:ln>
            <a:solidFill>
              <a:srgbClr val="3498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alibri"/>
              </a:rPr>
              <a:t>Cette approche améliore la sécurité, automatise la détection des infractions et facilite la vidéo-verbalisation. Elle constitue une application concrète de la Vision par Ordinateur au service des villes intelligentes.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2026-07-24T09:57:22Z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