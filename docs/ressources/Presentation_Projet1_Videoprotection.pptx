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214"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253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Aujourd'hui, une seule question : peut-on transformer les caméras que l'État béninois s'apprête à déployer en un véritable outil de verbalisation automatique, sans dépendre d'une solution étrangère importée ? C'est le projet que nous vous présentons. Cinq minutes pour vous convaincre.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 exercice académique hors-sol. Le Conseil des Ministres a déjà acté la décision en mars, puis réévalué et inscrit le budget en juin 2026. Trois enjeux nationaux se rejoignent : sécurité routière, contrôle des frontières, et surtout la possibilité de garder la maîtrise technique nationale plutôt que d'importer une solution clé en main.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question de recherche qui structure tout notre travail. Il ne s'agit pas seulement de détecter une plaque : il s'agit de construire une chaîne complète, robuste, et surtout reproductible localement, plutôt que d'acheter un système fermé dont on ne maîtriserait ni le coût ni les données.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notre architecture, en six étapes concrètes : la caméra filme, YOLOv8 détecte chaque véhicule, DeepSORT le suit d'une image à l'autre, un second modèle localise la plaque, l'OCR la lit, et une règle métier — franchissement de ligne ou zone interdite — qualifie l'infraction. Chaque étape s'appuie sur une littérature scientifique que nous avons étudiée en profondeur.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YOLOv8 répond à « où » : il détecte chaque véhicule en une seule passe, jusqu'à 47 images par seconde. DeepSORT répond à « qui » : grâce à un filtre de Kalman et une signature visuelle d'apparence, il garde l'identité du véhicule même quand il est temporairement masqué par un autre — un cas très fréquent en circulation dense.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reconnaissance de plaque suit trois étapes validées par la littérature scientifique : extraire la zone de la plaque, segmenter chaque caractère, puis le reconnaître par OCR. La précision atteint 90 à 99 % selon les conditions, mais certains caractères se confondent facilement — O et 0, P et B — ce qui impose un post-traitement par règles de format adaptées aux plaques béninoises.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ici que notre travail prend tout son sens. La littérature internationale ne teste ni la densité de deux-roues de Cotonou, ni la poussière d'harmattan, ni nos formats de plaques. Notre POC assume cette limite : valider d'abord la chaîne technique sur données publiques, puis prévoir une collecte locale ciblée — une démarche scientifiquement honnête plutôt qu'une promesse survendue.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ne promettons pas un système parfait : nous proposons une méthode de mesure rigoureuse, avec quatre indicateurs objectifs, avant tout passage à l'échelle. Le POC livrera un pipeline documenté, une démonstration sur des séquences réelles, un rapport de performance chiffré, et une note de transposition au cadre juridique béninois — notamment la protection des données personnelles.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ce projet transforme un investissement sécuritaire national en une opportunité de souveraineté technologique. Nous avons la littérature, l'architecture, la méthode de validation, et la lucidité sur nos limites locales. Nous sommes prêts à passer à l'implémentation. Merci de votre attention, nous répondons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222C52"/>
          </a:solidFill>
          <a:ln/>
        </p:spPr>
      </p:sp>
      <p:sp>
        <p:nvSpPr>
          <p:cNvPr id="3" name="Shape 1"/>
          <p:cNvSpPr/>
          <p:nvPr/>
        </p:nvSpPr>
        <p:spPr>
          <a:xfrm>
            <a:off x="-1645920" y="4754880"/>
            <a:ext cx="3840480" cy="3840480"/>
          </a:xfrm>
          <a:prstGeom prst="ellipse">
            <a:avLst/>
          </a:prstGeom>
          <a:ln w="19050">
            <a:solidFill>
              <a:srgbClr val="3A4676"/>
            </a:solidFill>
            <a:prstDash val="solid"/>
          </a:ln>
        </p:spPr>
      </p:sp>
      <p:sp>
        <p:nvSpPr>
          <p:cNvPr id="4" name="Text 2"/>
          <p:cNvSpPr/>
          <p:nvPr/>
        </p:nvSpPr>
        <p:spPr>
          <a:xfrm>
            <a:off x="822960" y="914400"/>
            <a:ext cx="91440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PIIA 2026 · ACADÉMIE DES MATHÉMATIQUES APPLIQUÉES</a:t>
            </a:r>
            <a:endParaRPr lang="en-US" sz="1300" dirty="0"/>
          </a:p>
        </p:txBody>
      </p:sp>
      <p:sp>
        <p:nvSpPr>
          <p:cNvPr id="5" name="Text 3"/>
          <p:cNvSpPr/>
          <p:nvPr/>
        </p:nvSpPr>
        <p:spPr>
          <a:xfrm>
            <a:off x="822960" y="1737360"/>
            <a:ext cx="9875520" cy="2377440"/>
          </a:xfrm>
          <a:prstGeom prst="rect">
            <a:avLst/>
          </a:prstGeom>
          <a:noFill/>
          <a:ln/>
        </p:spPr>
        <p:txBody>
          <a:bodyPr wrap="square" rtlCol="0" anchor="t"/>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La route qui voit,
</a:t>
            </a:r>
            <a:r>
              <a:rPr lang="en-US" sz="4600" b="1" dirty="0">
                <a:solidFill>
                  <a:srgbClr val="8E7CC3"/>
                </a:solidFill>
                <a:latin typeface="Cambria" pitchFamily="34" charset="0"/>
                <a:ea typeface="Cambria" pitchFamily="34" charset="-122"/>
                <a:cs typeface="Cambria" pitchFamily="34" charset="-120"/>
              </a:rPr>
              <a:t>la loi qui suit.</a:t>
            </a:r>
            <a:endParaRPr lang="en-US" sz="4600" dirty="0"/>
          </a:p>
        </p:txBody>
      </p:sp>
      <p:sp>
        <p:nvSpPr>
          <p:cNvPr id="6" name="Text 4"/>
          <p:cNvSpPr/>
          <p:nvPr/>
        </p:nvSpPr>
        <p:spPr>
          <a:xfrm>
            <a:off x="822960" y="4160520"/>
            <a:ext cx="8686800" cy="64008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Vidéoprotection intelligente et vidéo-verbalisation par Computer Vision</a:t>
            </a:r>
            <a:endParaRPr lang="en-US" sz="1800" dirty="0"/>
          </a:p>
        </p:txBody>
      </p:sp>
      <p:sp>
        <p:nvSpPr>
          <p:cNvPr id="7" name="Shape 5"/>
          <p:cNvSpPr/>
          <p:nvPr/>
        </p:nvSpPr>
        <p:spPr>
          <a:xfrm>
            <a:off x="10195560" y="3246120"/>
            <a:ext cx="1371600" cy="1371600"/>
          </a:xfrm>
          <a:prstGeom prst="ellipse">
            <a:avLst/>
          </a:prstGeom>
          <a:solidFill>
            <a:srgbClr val="222C52"/>
          </a:solidFill>
          <a:ln/>
          <a:effectLst>
            <a:outerShdw blurRad="152400" dist="50800" dir="5400000" algn="bl" rotWithShape="0">
              <a:srgbClr val="1B2340">
                <a:alpha val="18000"/>
              </a:srgbClr>
            </a:outerShdw>
          </a:effectLst>
        </p:spPr>
      </p:sp>
      <p:pic>
        <p:nvPicPr>
          <p:cNvPr id="8" name="Image 0" descr="/home/claude/ppt/icons/eye_lavender.png"/>
          <p:cNvPicPr>
            <a:picLocks noChangeAspect="1"/>
          </p:cNvPicPr>
          <p:nvPr/>
        </p:nvPicPr>
        <p:blipFill>
          <a:blip r:embed="rId3"/>
          <a:stretch>
            <a:fillRect/>
          </a:stretch>
        </p:blipFill>
        <p:spPr>
          <a:xfrm>
            <a:off x="10497312" y="3547872"/>
            <a:ext cx="768096" cy="768096"/>
          </a:xfrm>
          <a:prstGeom prst="rect">
            <a:avLst/>
          </a:prstGeom>
        </p:spPr>
      </p:pic>
      <p:sp>
        <p:nvSpPr>
          <p:cNvPr id="9" name="Shape 6"/>
          <p:cNvSpPr/>
          <p:nvPr/>
        </p:nvSpPr>
        <p:spPr>
          <a:xfrm>
            <a:off x="822960" y="5166360"/>
            <a:ext cx="2011680" cy="0"/>
          </a:xfrm>
          <a:prstGeom prst="line">
            <a:avLst/>
          </a:prstGeom>
          <a:noFill/>
          <a:ln w="19050">
            <a:solidFill>
              <a:srgbClr val="3A4676"/>
            </a:solidFill>
            <a:prstDash val="solid"/>
          </a:ln>
        </p:spPr>
      </p:sp>
      <p:sp>
        <p:nvSpPr>
          <p:cNvPr id="10" name="Text 7"/>
          <p:cNvSpPr/>
          <p:nvPr/>
        </p:nvSpPr>
        <p:spPr>
          <a:xfrm>
            <a:off x="822960" y="5349240"/>
            <a:ext cx="8229600" cy="822960"/>
          </a:xfrm>
          <a:prstGeom prst="rect">
            <a:avLst/>
          </a:prstGeom>
          <a:noFill/>
          <a:ln/>
        </p:spPr>
        <p:txBody>
          <a:bodyPr wrap="square"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Projet 1 - Projet Intégrateur
</a:t>
            </a:r>
            <a:r>
              <a:rPr lang="en-US" sz="1300" dirty="0">
                <a:solidFill>
                  <a:srgbClr val="CADCFC"/>
                </a:solidFill>
                <a:latin typeface="Calibri" pitchFamily="34" charset="0"/>
                <a:ea typeface="Calibri" pitchFamily="34" charset="-122"/>
                <a:cs typeface="Calibri" pitchFamily="34" charset="-120"/>
              </a:rPr>
              <a:t>AFOUDA Omotola | Aichatou TRAORE | DJOSSOU Benoît  · Cohorte PIIA 2026</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POURQUOI MAINTENANT</a:t>
            </a:r>
            <a:endParaRPr lang="en-US" sz="1300" dirty="0"/>
          </a:p>
        </p:txBody>
      </p:sp>
      <p:sp>
        <p:nvSpPr>
          <p:cNvPr id="3" name="Text 1"/>
          <p:cNvSpPr/>
          <p:nvPr/>
        </p:nvSpPr>
        <p:spPr>
          <a:xfrm>
            <a:off x="548640" y="777240"/>
            <a:ext cx="10058400" cy="822960"/>
          </a:xfrm>
          <a:prstGeom prst="rect">
            <a:avLst/>
          </a:prstGeom>
          <a:noFill/>
          <a:ln/>
        </p:spPr>
        <p:txBody>
          <a:bodyPr wrap="square" rtlCol="0" anchor="ctr"/>
          <a:lstStyle/>
          <a:p>
            <a:pPr marL="0" indent="0">
              <a:buNone/>
            </a:pPr>
            <a:r>
              <a:rPr lang="en-US" sz="3200" b="1" dirty="0">
                <a:solidFill>
                  <a:srgbClr val="1B2340"/>
                </a:solidFill>
                <a:latin typeface="Cambria" pitchFamily="34" charset="0"/>
                <a:ea typeface="Cambria" pitchFamily="34" charset="-122"/>
                <a:cs typeface="Cambria" pitchFamily="34" charset="-120"/>
              </a:rPr>
              <a:t>Un chantier déjà financé par l'État</a:t>
            </a:r>
            <a:endParaRPr lang="en-US" sz="3200" dirty="0"/>
          </a:p>
        </p:txBody>
      </p:sp>
      <p:sp>
        <p:nvSpPr>
          <p:cNvPr id="4" name="Shape 2"/>
          <p:cNvSpPr/>
          <p:nvPr/>
        </p:nvSpPr>
        <p:spPr>
          <a:xfrm>
            <a:off x="548640" y="1965960"/>
            <a:ext cx="566928" cy="566928"/>
          </a:xfrm>
          <a:prstGeom prst="ellipse">
            <a:avLst/>
          </a:prstGeom>
          <a:solidFill>
            <a:srgbClr val="1B2340"/>
          </a:solidFill>
          <a:ln/>
          <a:effectLst>
            <a:outerShdw blurRad="152400" dist="50800" dir="5400000" algn="bl" rotWithShape="0">
              <a:srgbClr val="1B2340">
                <a:alpha val="18000"/>
              </a:srgbClr>
            </a:outerShdw>
          </a:effectLst>
        </p:spPr>
      </p:sp>
      <p:pic>
        <p:nvPicPr>
          <p:cNvPr id="5" name="Image 0" descr="/home/claude/ppt/icons/flag_white.png"/>
          <p:cNvPicPr>
            <a:picLocks noChangeAspect="1"/>
          </p:cNvPicPr>
          <p:nvPr/>
        </p:nvPicPr>
        <p:blipFill>
          <a:blip r:embed="rId3"/>
          <a:stretch>
            <a:fillRect/>
          </a:stretch>
        </p:blipFill>
        <p:spPr>
          <a:xfrm>
            <a:off x="690372" y="2107692"/>
            <a:ext cx="283464" cy="283464"/>
          </a:xfrm>
          <a:prstGeom prst="rect">
            <a:avLst/>
          </a:prstGeom>
        </p:spPr>
      </p:pic>
      <p:sp>
        <p:nvSpPr>
          <p:cNvPr id="6" name="Text 3"/>
          <p:cNvSpPr/>
          <p:nvPr/>
        </p:nvSpPr>
        <p:spPr>
          <a:xfrm>
            <a:off x="1325880" y="1938528"/>
            <a:ext cx="1920240" cy="365760"/>
          </a:xfrm>
          <a:prstGeom prst="rect">
            <a:avLst/>
          </a:prstGeom>
          <a:noFill/>
          <a:ln/>
        </p:spPr>
        <p:txBody>
          <a:bodyPr wrap="square" rtlCol="0" anchor="ctr"/>
          <a:lstStyle/>
          <a:p>
            <a:pPr marL="0" indent="0">
              <a:buNone/>
            </a:pPr>
            <a:r>
              <a:rPr lang="en-US" sz="1500" b="1" dirty="0">
                <a:solidFill>
                  <a:srgbClr val="1B2340"/>
                </a:solidFill>
                <a:latin typeface="Calibri" pitchFamily="34" charset="0"/>
                <a:ea typeface="Calibri" pitchFamily="34" charset="-122"/>
                <a:cs typeface="Calibri" pitchFamily="34" charset="-120"/>
              </a:rPr>
              <a:t>Mars 2026</a:t>
            </a:r>
            <a:endParaRPr lang="en-US" sz="1500" dirty="0"/>
          </a:p>
        </p:txBody>
      </p:sp>
      <p:sp>
        <p:nvSpPr>
          <p:cNvPr id="7" name="Text 4"/>
          <p:cNvSpPr/>
          <p:nvPr/>
        </p:nvSpPr>
        <p:spPr>
          <a:xfrm>
            <a:off x="1325880" y="2258568"/>
            <a:ext cx="5577840" cy="685800"/>
          </a:xfrm>
          <a:prstGeom prst="rect">
            <a:avLst/>
          </a:prstGeom>
          <a:noFill/>
          <a:ln/>
        </p:spPr>
        <p:txBody>
          <a:bodyPr wrap="square" rtlCol="0" anchor="ctr"/>
          <a:lstStyle/>
          <a:p>
            <a:pPr marL="0" indent="0">
              <a:lnSpc>
                <a:spcPts val="1700"/>
              </a:lnSpc>
              <a:buNone/>
            </a:pPr>
            <a:r>
              <a:rPr lang="en-US" sz="1350" dirty="0">
                <a:solidFill>
                  <a:srgbClr val="2A2A38"/>
                </a:solidFill>
                <a:latin typeface="Calibri" pitchFamily="34" charset="0"/>
                <a:ea typeface="Calibri" pitchFamily="34" charset="-122"/>
                <a:cs typeface="Calibri" pitchFamily="34" charset="-120"/>
              </a:rPr>
              <a:t>Décision de principe du Conseil des Ministres : vidéoprotection dans 5 villes et aux frontières.</a:t>
            </a:r>
            <a:endParaRPr lang="en-US" sz="1350" dirty="0"/>
          </a:p>
        </p:txBody>
      </p:sp>
      <p:sp>
        <p:nvSpPr>
          <p:cNvPr id="8" name="Shape 5"/>
          <p:cNvSpPr/>
          <p:nvPr/>
        </p:nvSpPr>
        <p:spPr>
          <a:xfrm>
            <a:off x="832104" y="2532888"/>
            <a:ext cx="0" cy="594360"/>
          </a:xfrm>
          <a:prstGeom prst="line">
            <a:avLst/>
          </a:prstGeom>
          <a:noFill/>
          <a:ln w="19050">
            <a:solidFill>
              <a:srgbClr val="D9D0F2"/>
            </a:solidFill>
            <a:prstDash val="dash"/>
          </a:ln>
        </p:spPr>
      </p:sp>
      <p:sp>
        <p:nvSpPr>
          <p:cNvPr id="9" name="Shape 6"/>
          <p:cNvSpPr/>
          <p:nvPr/>
        </p:nvSpPr>
        <p:spPr>
          <a:xfrm>
            <a:off x="548640" y="3383280"/>
            <a:ext cx="566928" cy="566928"/>
          </a:xfrm>
          <a:prstGeom prst="ellipse">
            <a:avLst/>
          </a:prstGeom>
          <a:solidFill>
            <a:srgbClr val="1B2340"/>
          </a:solidFill>
          <a:ln/>
          <a:effectLst>
            <a:outerShdw blurRad="152400" dist="50800" dir="5400000" algn="bl" rotWithShape="0">
              <a:srgbClr val="1B2340">
                <a:alpha val="18000"/>
              </a:srgbClr>
            </a:outerShdw>
          </a:effectLst>
        </p:spPr>
      </p:sp>
      <p:pic>
        <p:nvPicPr>
          <p:cNvPr id="10" name="Image 1" descr="/home/claude/ppt/icons/flag_white.png"/>
          <p:cNvPicPr>
            <a:picLocks noChangeAspect="1"/>
          </p:cNvPicPr>
          <p:nvPr/>
        </p:nvPicPr>
        <p:blipFill>
          <a:blip r:embed="rId3"/>
          <a:stretch>
            <a:fillRect/>
          </a:stretch>
        </p:blipFill>
        <p:spPr>
          <a:xfrm>
            <a:off x="690372" y="3525012"/>
            <a:ext cx="283464" cy="283464"/>
          </a:xfrm>
          <a:prstGeom prst="rect">
            <a:avLst/>
          </a:prstGeom>
        </p:spPr>
      </p:pic>
      <p:sp>
        <p:nvSpPr>
          <p:cNvPr id="11" name="Text 7"/>
          <p:cNvSpPr/>
          <p:nvPr/>
        </p:nvSpPr>
        <p:spPr>
          <a:xfrm>
            <a:off x="1325880" y="3355848"/>
            <a:ext cx="1920240" cy="365760"/>
          </a:xfrm>
          <a:prstGeom prst="rect">
            <a:avLst/>
          </a:prstGeom>
          <a:noFill/>
          <a:ln/>
        </p:spPr>
        <p:txBody>
          <a:bodyPr wrap="square" rtlCol="0" anchor="ctr"/>
          <a:lstStyle/>
          <a:p>
            <a:pPr marL="0" indent="0">
              <a:buNone/>
            </a:pPr>
            <a:r>
              <a:rPr lang="en-US" sz="1500" b="1" dirty="0">
                <a:solidFill>
                  <a:srgbClr val="1B2340"/>
                </a:solidFill>
                <a:latin typeface="Calibri" pitchFamily="34" charset="0"/>
                <a:ea typeface="Calibri" pitchFamily="34" charset="-122"/>
                <a:cs typeface="Calibri" pitchFamily="34" charset="-120"/>
              </a:rPr>
              <a:t>Juin 2026</a:t>
            </a:r>
            <a:endParaRPr lang="en-US" sz="1500" dirty="0"/>
          </a:p>
        </p:txBody>
      </p:sp>
      <p:sp>
        <p:nvSpPr>
          <p:cNvPr id="12" name="Text 8"/>
          <p:cNvSpPr/>
          <p:nvPr/>
        </p:nvSpPr>
        <p:spPr>
          <a:xfrm>
            <a:off x="1325880" y="3675888"/>
            <a:ext cx="5577840" cy="685800"/>
          </a:xfrm>
          <a:prstGeom prst="rect">
            <a:avLst/>
          </a:prstGeom>
          <a:noFill/>
          <a:ln/>
        </p:spPr>
        <p:txBody>
          <a:bodyPr wrap="square" rtlCol="0" anchor="ctr"/>
          <a:lstStyle/>
          <a:p>
            <a:pPr marL="0" indent="0">
              <a:lnSpc>
                <a:spcPts val="1700"/>
              </a:lnSpc>
              <a:buNone/>
            </a:pPr>
            <a:r>
              <a:rPr lang="en-US" sz="1350" dirty="0">
                <a:solidFill>
                  <a:srgbClr val="2A2A38"/>
                </a:solidFill>
                <a:latin typeface="Calibri" pitchFamily="34" charset="0"/>
                <a:ea typeface="Calibri" pitchFamily="34" charset="-122"/>
                <a:cs typeface="Calibri" pitchFamily="34" charset="-120"/>
              </a:rPr>
              <a:t>Dotation budgétaire réévaluée, inscrite dans la loi de finances rectificative.</a:t>
            </a:r>
            <a:endParaRPr lang="en-US" sz="1350" dirty="0"/>
          </a:p>
        </p:txBody>
      </p:sp>
      <p:sp>
        <p:nvSpPr>
          <p:cNvPr id="13" name="Shape 9"/>
          <p:cNvSpPr/>
          <p:nvPr/>
        </p:nvSpPr>
        <p:spPr>
          <a:xfrm>
            <a:off x="832104" y="3950208"/>
            <a:ext cx="0" cy="594360"/>
          </a:xfrm>
          <a:prstGeom prst="line">
            <a:avLst/>
          </a:prstGeom>
          <a:noFill/>
          <a:ln w="19050">
            <a:solidFill>
              <a:srgbClr val="D9D0F2"/>
            </a:solidFill>
            <a:prstDash val="dash"/>
          </a:ln>
        </p:spPr>
      </p:sp>
      <p:sp>
        <p:nvSpPr>
          <p:cNvPr id="14" name="Shape 10"/>
          <p:cNvSpPr/>
          <p:nvPr/>
        </p:nvSpPr>
        <p:spPr>
          <a:xfrm>
            <a:off x="548640" y="4800600"/>
            <a:ext cx="566928" cy="566928"/>
          </a:xfrm>
          <a:prstGeom prst="ellipse">
            <a:avLst/>
          </a:prstGeom>
          <a:solidFill>
            <a:srgbClr val="8E7CC3"/>
          </a:solidFill>
          <a:ln/>
          <a:effectLst>
            <a:outerShdw blurRad="152400" dist="50800" dir="5400000" algn="bl" rotWithShape="0">
              <a:srgbClr val="1B2340">
                <a:alpha val="18000"/>
              </a:srgbClr>
            </a:outerShdw>
          </a:effectLst>
        </p:spPr>
      </p:sp>
      <p:pic>
        <p:nvPicPr>
          <p:cNvPr id="15" name="Image 2" descr="/home/claude/ppt/icons/flag_white.png"/>
          <p:cNvPicPr>
            <a:picLocks noChangeAspect="1"/>
          </p:cNvPicPr>
          <p:nvPr/>
        </p:nvPicPr>
        <p:blipFill>
          <a:blip r:embed="rId3"/>
          <a:stretch>
            <a:fillRect/>
          </a:stretch>
        </p:blipFill>
        <p:spPr>
          <a:xfrm>
            <a:off x="690372" y="4942332"/>
            <a:ext cx="283464" cy="283464"/>
          </a:xfrm>
          <a:prstGeom prst="rect">
            <a:avLst/>
          </a:prstGeom>
        </p:spPr>
      </p:pic>
      <p:sp>
        <p:nvSpPr>
          <p:cNvPr id="16" name="Text 11"/>
          <p:cNvSpPr/>
          <p:nvPr/>
        </p:nvSpPr>
        <p:spPr>
          <a:xfrm>
            <a:off x="1325880" y="4773168"/>
            <a:ext cx="1920240" cy="365760"/>
          </a:xfrm>
          <a:prstGeom prst="rect">
            <a:avLst/>
          </a:prstGeom>
          <a:noFill/>
          <a:ln/>
        </p:spPr>
        <p:txBody>
          <a:bodyPr wrap="square" rtlCol="0" anchor="ctr"/>
          <a:lstStyle/>
          <a:p>
            <a:pPr marL="0" indent="0">
              <a:buNone/>
            </a:pPr>
            <a:r>
              <a:rPr lang="en-US" sz="1500" b="1" dirty="0">
                <a:solidFill>
                  <a:srgbClr val="1B2340"/>
                </a:solidFill>
                <a:latin typeface="Calibri" pitchFamily="34" charset="0"/>
                <a:ea typeface="Calibri" pitchFamily="34" charset="-122"/>
                <a:cs typeface="Calibri" pitchFamily="34" charset="-120"/>
              </a:rPr>
              <a:t>Aujourd'hui</a:t>
            </a:r>
            <a:endParaRPr lang="en-US" sz="1500" dirty="0"/>
          </a:p>
        </p:txBody>
      </p:sp>
      <p:sp>
        <p:nvSpPr>
          <p:cNvPr id="17" name="Text 12"/>
          <p:cNvSpPr/>
          <p:nvPr/>
        </p:nvSpPr>
        <p:spPr>
          <a:xfrm>
            <a:off x="1325880" y="5093208"/>
            <a:ext cx="5577840" cy="685800"/>
          </a:xfrm>
          <a:prstGeom prst="rect">
            <a:avLst/>
          </a:prstGeom>
          <a:noFill/>
          <a:ln/>
        </p:spPr>
        <p:txBody>
          <a:bodyPr wrap="square" rtlCol="0" anchor="ctr"/>
          <a:lstStyle/>
          <a:p>
            <a:pPr marL="0" indent="0">
              <a:lnSpc>
                <a:spcPts val="1700"/>
              </a:lnSpc>
              <a:buNone/>
            </a:pPr>
            <a:r>
              <a:rPr lang="en-US" sz="1350" dirty="0">
                <a:solidFill>
                  <a:srgbClr val="2A2A38"/>
                </a:solidFill>
                <a:latin typeface="Calibri" pitchFamily="34" charset="0"/>
                <a:ea typeface="Calibri" pitchFamily="34" charset="-122"/>
                <a:cs typeface="Calibri" pitchFamily="34" charset="-120"/>
              </a:rPr>
              <a:t>La fenêtre la plus favorable pour un appui technique en IA souveraine.</a:t>
            </a:r>
            <a:endParaRPr lang="en-US" sz="1350" dirty="0"/>
          </a:p>
        </p:txBody>
      </p:sp>
      <p:sp>
        <p:nvSpPr>
          <p:cNvPr id="18" name="Shape 13"/>
          <p:cNvSpPr/>
          <p:nvPr/>
        </p:nvSpPr>
        <p:spPr>
          <a:xfrm>
            <a:off x="7635240" y="1965960"/>
            <a:ext cx="3977640" cy="4160520"/>
          </a:xfrm>
          <a:prstGeom prst="roundRect">
            <a:avLst>
              <a:gd name="adj" fmla="val 3218"/>
            </a:avLst>
          </a:prstGeom>
          <a:solidFill>
            <a:srgbClr val="F1EDFB"/>
          </a:solidFill>
          <a:ln/>
          <a:effectLst>
            <a:outerShdw blurRad="152400" dist="50800" dir="5400000" algn="bl" rotWithShape="0">
              <a:srgbClr val="1B2340">
                <a:alpha val="18000"/>
              </a:srgbClr>
            </a:outerShdw>
          </a:effectLst>
        </p:spPr>
      </p:sp>
      <p:sp>
        <p:nvSpPr>
          <p:cNvPr id="19" name="Shape 14"/>
          <p:cNvSpPr/>
          <p:nvPr/>
        </p:nvSpPr>
        <p:spPr>
          <a:xfrm>
            <a:off x="8001000" y="2331720"/>
            <a:ext cx="777240" cy="777240"/>
          </a:xfrm>
          <a:prstGeom prst="ellipse">
            <a:avLst/>
          </a:prstGeom>
          <a:solidFill>
            <a:srgbClr val="8E7CC3"/>
          </a:solidFill>
          <a:ln/>
          <a:effectLst>
            <a:outerShdw blurRad="152400" dist="50800" dir="5400000" algn="bl" rotWithShape="0">
              <a:srgbClr val="1B2340">
                <a:alpha val="18000"/>
              </a:srgbClr>
            </a:outerShdw>
          </a:effectLst>
        </p:spPr>
      </p:sp>
      <p:pic>
        <p:nvPicPr>
          <p:cNvPr id="20" name="Image 3" descr="/home/claude/ppt/icons/building_white.png"/>
          <p:cNvPicPr>
            <a:picLocks noChangeAspect="1"/>
          </p:cNvPicPr>
          <p:nvPr/>
        </p:nvPicPr>
        <p:blipFill>
          <a:blip r:embed="rId4"/>
          <a:stretch>
            <a:fillRect/>
          </a:stretch>
        </p:blipFill>
        <p:spPr>
          <a:xfrm>
            <a:off x="8171993" y="2502713"/>
            <a:ext cx="435254" cy="435254"/>
          </a:xfrm>
          <a:prstGeom prst="rect">
            <a:avLst/>
          </a:prstGeom>
        </p:spPr>
      </p:pic>
      <p:sp>
        <p:nvSpPr>
          <p:cNvPr id="21" name="Text 15"/>
          <p:cNvSpPr/>
          <p:nvPr/>
        </p:nvSpPr>
        <p:spPr>
          <a:xfrm>
            <a:off x="8915400" y="2395728"/>
            <a:ext cx="2514600" cy="640080"/>
          </a:xfrm>
          <a:prstGeom prst="rect">
            <a:avLst/>
          </a:prstGeom>
          <a:noFill/>
          <a:ln/>
        </p:spPr>
        <p:txBody>
          <a:bodyPr wrap="square" rtlCol="0" anchor="t"/>
          <a:lstStyle/>
          <a:p>
            <a:pPr marL="0" indent="0">
              <a:buNone/>
            </a:pPr>
            <a:r>
              <a:rPr lang="en-US" sz="1350" b="1" dirty="0">
                <a:solidFill>
                  <a:srgbClr val="1B2340"/>
                </a:solidFill>
                <a:latin typeface="Calibri" pitchFamily="34" charset="0"/>
                <a:ea typeface="Calibri" pitchFamily="34" charset="-122"/>
                <a:cs typeface="Calibri" pitchFamily="34" charset="-120"/>
              </a:rPr>
              <a:t>3 enjeux, 1 seule brique technique</a:t>
            </a:r>
            <a:endParaRPr lang="en-US" sz="1350" dirty="0"/>
          </a:p>
        </p:txBody>
      </p:sp>
      <p:sp>
        <p:nvSpPr>
          <p:cNvPr id="22" name="Shape 16"/>
          <p:cNvSpPr/>
          <p:nvPr/>
        </p:nvSpPr>
        <p:spPr>
          <a:xfrm>
            <a:off x="8001000" y="3429000"/>
            <a:ext cx="3291840" cy="566928"/>
          </a:xfrm>
          <a:prstGeom prst="roundRect">
            <a:avLst>
              <a:gd name="adj" fmla="val 50000"/>
            </a:avLst>
          </a:prstGeom>
          <a:solidFill>
            <a:srgbClr val="FFFFFF"/>
          </a:solidFill>
          <a:ln/>
          <a:effectLst>
            <a:outerShdw blurRad="76200" dist="25400" dir="5400000" algn="bl" rotWithShape="0">
              <a:srgbClr val="1B2340">
                <a:alpha val="18000"/>
              </a:srgbClr>
            </a:outerShdw>
          </a:effectLst>
        </p:spPr>
      </p:sp>
      <p:sp>
        <p:nvSpPr>
          <p:cNvPr id="23" name="Text 17"/>
          <p:cNvSpPr/>
          <p:nvPr/>
        </p:nvSpPr>
        <p:spPr>
          <a:xfrm>
            <a:off x="8183880" y="3429000"/>
            <a:ext cx="2926080" cy="566928"/>
          </a:xfrm>
          <a:prstGeom prst="rect">
            <a:avLst/>
          </a:prstGeom>
          <a:noFill/>
          <a:ln/>
        </p:spPr>
        <p:txBody>
          <a:bodyPr wrap="square" rtlCol="0" anchor="ctr"/>
          <a:lstStyle/>
          <a:p>
            <a:pPr marL="0" indent="0">
              <a:buNone/>
            </a:pPr>
            <a:r>
              <a:rPr lang="en-US" sz="1350" b="1" dirty="0">
                <a:solidFill>
                  <a:srgbClr val="1B2340"/>
                </a:solidFill>
                <a:latin typeface="Calibri" pitchFamily="34" charset="0"/>
                <a:ea typeface="Calibri" pitchFamily="34" charset="-122"/>
                <a:cs typeface="Calibri" pitchFamily="34" charset="-120"/>
              </a:rPr>
              <a:t>Sécurité routière</a:t>
            </a:r>
            <a:endParaRPr lang="en-US" sz="1350" dirty="0"/>
          </a:p>
        </p:txBody>
      </p:sp>
      <p:sp>
        <p:nvSpPr>
          <p:cNvPr id="24" name="Shape 18"/>
          <p:cNvSpPr/>
          <p:nvPr/>
        </p:nvSpPr>
        <p:spPr>
          <a:xfrm>
            <a:off x="8001000" y="4178808"/>
            <a:ext cx="3291840" cy="566928"/>
          </a:xfrm>
          <a:prstGeom prst="roundRect">
            <a:avLst>
              <a:gd name="adj" fmla="val 50000"/>
            </a:avLst>
          </a:prstGeom>
          <a:solidFill>
            <a:srgbClr val="FFFFFF"/>
          </a:solidFill>
          <a:ln/>
          <a:effectLst>
            <a:outerShdw blurRad="76200" dist="25400" dir="5400000" algn="bl" rotWithShape="0">
              <a:srgbClr val="1B2340">
                <a:alpha val="18000"/>
              </a:srgbClr>
            </a:outerShdw>
          </a:effectLst>
        </p:spPr>
      </p:sp>
      <p:sp>
        <p:nvSpPr>
          <p:cNvPr id="25" name="Text 19"/>
          <p:cNvSpPr/>
          <p:nvPr/>
        </p:nvSpPr>
        <p:spPr>
          <a:xfrm>
            <a:off x="8183880" y="4178808"/>
            <a:ext cx="2926080" cy="566928"/>
          </a:xfrm>
          <a:prstGeom prst="rect">
            <a:avLst/>
          </a:prstGeom>
          <a:noFill/>
          <a:ln/>
        </p:spPr>
        <p:txBody>
          <a:bodyPr wrap="square" rtlCol="0" anchor="ctr"/>
          <a:lstStyle/>
          <a:p>
            <a:pPr marL="0" indent="0">
              <a:buNone/>
            </a:pPr>
            <a:r>
              <a:rPr lang="en-US" sz="1350" b="1" dirty="0">
                <a:solidFill>
                  <a:srgbClr val="1B2340"/>
                </a:solidFill>
                <a:latin typeface="Calibri" pitchFamily="34" charset="0"/>
                <a:ea typeface="Calibri" pitchFamily="34" charset="-122"/>
                <a:cs typeface="Calibri" pitchFamily="34" charset="-120"/>
              </a:rPr>
              <a:t>Contrôle des frontières</a:t>
            </a:r>
            <a:endParaRPr lang="en-US" sz="1350" dirty="0"/>
          </a:p>
        </p:txBody>
      </p:sp>
      <p:sp>
        <p:nvSpPr>
          <p:cNvPr id="26" name="Shape 20"/>
          <p:cNvSpPr/>
          <p:nvPr/>
        </p:nvSpPr>
        <p:spPr>
          <a:xfrm>
            <a:off x="8001000" y="4928616"/>
            <a:ext cx="3291840" cy="566928"/>
          </a:xfrm>
          <a:prstGeom prst="roundRect">
            <a:avLst>
              <a:gd name="adj" fmla="val 50000"/>
            </a:avLst>
          </a:prstGeom>
          <a:solidFill>
            <a:srgbClr val="FFFFFF"/>
          </a:solidFill>
          <a:ln/>
          <a:effectLst>
            <a:outerShdw blurRad="76200" dist="25400" dir="5400000" algn="bl" rotWithShape="0">
              <a:srgbClr val="1B2340">
                <a:alpha val="18000"/>
              </a:srgbClr>
            </a:outerShdw>
          </a:effectLst>
        </p:spPr>
      </p:sp>
      <p:sp>
        <p:nvSpPr>
          <p:cNvPr id="27" name="Text 21"/>
          <p:cNvSpPr/>
          <p:nvPr/>
        </p:nvSpPr>
        <p:spPr>
          <a:xfrm>
            <a:off x="8183880" y="4928616"/>
            <a:ext cx="2926080" cy="566928"/>
          </a:xfrm>
          <a:prstGeom prst="rect">
            <a:avLst/>
          </a:prstGeom>
          <a:noFill/>
          <a:ln/>
        </p:spPr>
        <p:txBody>
          <a:bodyPr wrap="square" rtlCol="0" anchor="ctr"/>
          <a:lstStyle/>
          <a:p>
            <a:pPr marL="0" indent="0">
              <a:buNone/>
            </a:pPr>
            <a:r>
              <a:rPr lang="en-US" sz="1350" b="1" dirty="0">
                <a:solidFill>
                  <a:srgbClr val="1B2340"/>
                </a:solidFill>
                <a:latin typeface="Calibri" pitchFamily="34" charset="0"/>
                <a:ea typeface="Calibri" pitchFamily="34" charset="-122"/>
                <a:cs typeface="Calibri" pitchFamily="34" charset="-120"/>
              </a:rPr>
              <a:t>Souveraineté numérique</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5394960" y="-2926080"/>
            <a:ext cx="7315200" cy="7315200"/>
          </a:xfrm>
          <a:prstGeom prst="ellipse">
            <a:avLst/>
          </a:prstGeom>
          <a:solidFill>
            <a:srgbClr val="222C52"/>
          </a:solidFill>
          <a:ln/>
        </p:spPr>
      </p:sp>
      <p:sp>
        <p:nvSpPr>
          <p:cNvPr id="3" name="Text 1"/>
          <p:cNvSpPr/>
          <p:nvPr/>
        </p:nvSpPr>
        <p:spPr>
          <a:xfrm>
            <a:off x="82296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LA QUESTION CENTRALE</a:t>
            </a:r>
            <a:endParaRPr lang="en-US" sz="1300" dirty="0"/>
          </a:p>
        </p:txBody>
      </p:sp>
      <p:sp>
        <p:nvSpPr>
          <p:cNvPr id="4" name="Shape 2"/>
          <p:cNvSpPr/>
          <p:nvPr/>
        </p:nvSpPr>
        <p:spPr>
          <a:xfrm>
            <a:off x="822960" y="1417320"/>
            <a:ext cx="960120" cy="960120"/>
          </a:xfrm>
          <a:prstGeom prst="ellipse">
            <a:avLst/>
          </a:prstGeom>
          <a:solidFill>
            <a:srgbClr val="222C52"/>
          </a:solidFill>
          <a:ln/>
          <a:effectLst>
            <a:outerShdw blurRad="152400" dist="50800" dir="5400000" algn="bl" rotWithShape="0">
              <a:srgbClr val="1B2340">
                <a:alpha val="18000"/>
              </a:srgbClr>
            </a:outerShdw>
          </a:effectLst>
        </p:spPr>
      </p:sp>
      <p:pic>
        <p:nvPicPr>
          <p:cNvPr id="5" name="Image 0" descr="/home/claude/ppt/icons/target_lavender.png"/>
          <p:cNvPicPr>
            <a:picLocks noChangeAspect="1"/>
          </p:cNvPicPr>
          <p:nvPr/>
        </p:nvPicPr>
        <p:blipFill>
          <a:blip r:embed="rId3"/>
          <a:stretch>
            <a:fillRect/>
          </a:stretch>
        </p:blipFill>
        <p:spPr>
          <a:xfrm>
            <a:off x="1034186" y="1628546"/>
            <a:ext cx="537667" cy="537667"/>
          </a:xfrm>
          <a:prstGeom prst="rect">
            <a:avLst/>
          </a:prstGeom>
        </p:spPr>
      </p:pic>
      <p:sp>
        <p:nvSpPr>
          <p:cNvPr id="6" name="Text 3"/>
          <p:cNvSpPr/>
          <p:nvPr/>
        </p:nvSpPr>
        <p:spPr>
          <a:xfrm>
            <a:off x="822960" y="2651760"/>
            <a:ext cx="10241280" cy="2377440"/>
          </a:xfrm>
          <a:prstGeom prst="rect">
            <a:avLst/>
          </a:prstGeom>
          <a:noFill/>
          <a:ln/>
        </p:spPr>
        <p:txBody>
          <a:bodyPr wrap="square" rtlCol="0" anchor="t"/>
          <a:lstStyle/>
          <a:p>
            <a:pPr marL="0" indent="0">
              <a:lnSpc>
                <a:spcPts val="4200"/>
              </a:lnSpc>
              <a:buNone/>
            </a:pPr>
            <a:r>
              <a:rPr lang="en-US" sz="3300" b="1" dirty="0">
                <a:solidFill>
                  <a:srgbClr val="FFFFFF"/>
                </a:solidFill>
                <a:latin typeface="Cambria" pitchFamily="34" charset="0"/>
                <a:ea typeface="Cambria" pitchFamily="34" charset="-122"/>
                <a:cs typeface="Cambria" pitchFamily="34" charset="-120"/>
              </a:rPr>
              <a:t>Comment transformer un flux vidéo en preuve d'infraction, </a:t>
            </a:r>
            <a:r>
              <a:rPr lang="en-US" sz="3300" b="1" dirty="0">
                <a:solidFill>
                  <a:srgbClr val="8E7CC3"/>
                </a:solidFill>
                <a:latin typeface="Cambria" pitchFamily="34" charset="0"/>
                <a:ea typeface="Cambria" pitchFamily="34" charset="-122"/>
                <a:cs typeface="Cambria" pitchFamily="34" charset="-120"/>
              </a:rPr>
              <a:t>à coût soutenable</a:t>
            </a:r>
            <a:r>
              <a:rPr lang="en-US" sz="3300" b="1" dirty="0">
                <a:solidFill>
                  <a:srgbClr val="FFFFFF"/>
                </a:solidFill>
                <a:latin typeface="Cambria" pitchFamily="34" charset="0"/>
                <a:ea typeface="Cambria" pitchFamily="34" charset="-122"/>
                <a:cs typeface="Cambria" pitchFamily="34" charset="-120"/>
              </a:rPr>
              <a:t>, sans dépendre d'une boîte noire importée ?</a:t>
            </a:r>
            <a:endParaRPr lang="en-US" sz="3300" dirty="0"/>
          </a:p>
        </p:txBody>
      </p:sp>
      <p:sp>
        <p:nvSpPr>
          <p:cNvPr id="7" name="Text 4"/>
          <p:cNvSpPr/>
          <p:nvPr/>
        </p:nvSpPr>
        <p:spPr>
          <a:xfrm>
            <a:off x="822960" y="5212080"/>
            <a:ext cx="9875520" cy="54864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Détecter · Suivre · Lire la plaque · Qualifier </a:t>
            </a:r>
            <a:r>
              <a:rPr lang="en-US" sz="1500" i="1" dirty="0" err="1">
                <a:solidFill>
                  <a:srgbClr val="CADCFC"/>
                </a:solidFill>
                <a:latin typeface="Calibri" pitchFamily="34" charset="0"/>
                <a:ea typeface="Calibri" pitchFamily="34" charset="-122"/>
                <a:cs typeface="Calibri" pitchFamily="34" charset="-120"/>
              </a:rPr>
              <a:t>l'infraction</a:t>
            </a:r>
            <a:r>
              <a:rPr lang="en-US" sz="1500" i="1" dirty="0">
                <a:solidFill>
                  <a:srgbClr val="CADCFC"/>
                </a:solidFill>
                <a:latin typeface="Calibri" pitchFamily="34" charset="0"/>
                <a:ea typeface="Calibri" pitchFamily="34" charset="-122"/>
                <a:cs typeface="Calibri" pitchFamily="34" charset="-120"/>
              </a:rPr>
              <a:t> en conservant la maîtrise nationale de la chaîne</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NOTRE SOLUTION</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marL="0" indent="0">
              <a:buNone/>
            </a:pPr>
            <a:r>
              <a:rPr lang="en-US" sz="3200" b="1" dirty="0">
                <a:solidFill>
                  <a:srgbClr val="1B2340"/>
                </a:solidFill>
                <a:latin typeface="Cambria" pitchFamily="34" charset="0"/>
                <a:ea typeface="Cambria" pitchFamily="34" charset="-122"/>
                <a:cs typeface="Cambria" pitchFamily="34" charset="-120"/>
              </a:rPr>
              <a:t>Un pipeline, six étapes, une preuve</a:t>
            </a:r>
            <a:endParaRPr lang="en-US" sz="3200" dirty="0"/>
          </a:p>
        </p:txBody>
      </p:sp>
      <p:sp>
        <p:nvSpPr>
          <p:cNvPr id="4" name="Shape 2"/>
          <p:cNvSpPr/>
          <p:nvPr/>
        </p:nvSpPr>
        <p:spPr>
          <a:xfrm>
            <a:off x="676656" y="2377440"/>
            <a:ext cx="1691640" cy="2834640"/>
          </a:xfrm>
          <a:prstGeom prst="roundRect">
            <a:avLst>
              <a:gd name="adj" fmla="val 6486"/>
            </a:avLst>
          </a:prstGeom>
          <a:solidFill>
            <a:srgbClr val="F1EDFB"/>
          </a:solidFill>
          <a:ln w="12700">
            <a:solidFill>
              <a:srgbClr val="D9D0F2"/>
            </a:solidFill>
            <a:prstDash val="solid"/>
          </a:ln>
          <a:effectLst>
            <a:outerShdw blurRad="101600" dist="38100" dir="5400000" algn="bl" rotWithShape="0">
              <a:srgbClr val="1B2340">
                <a:alpha val="18000"/>
              </a:srgbClr>
            </a:outerShdw>
          </a:effectLst>
        </p:spPr>
      </p:sp>
      <p:sp>
        <p:nvSpPr>
          <p:cNvPr id="5" name="Shape 3"/>
          <p:cNvSpPr/>
          <p:nvPr/>
        </p:nvSpPr>
        <p:spPr>
          <a:xfrm>
            <a:off x="11932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6" name="Image 0" descr="/home/claude/ppt/icons/camera_lavender.png"/>
          <p:cNvPicPr>
            <a:picLocks noChangeAspect="1"/>
          </p:cNvPicPr>
          <p:nvPr/>
        </p:nvPicPr>
        <p:blipFill>
          <a:blip r:embed="rId3"/>
          <a:stretch>
            <a:fillRect/>
          </a:stretch>
        </p:blipFill>
        <p:spPr>
          <a:xfrm>
            <a:off x="1341425" y="2799893"/>
            <a:ext cx="362102" cy="362102"/>
          </a:xfrm>
          <a:prstGeom prst="rect">
            <a:avLst/>
          </a:prstGeom>
        </p:spPr>
      </p:pic>
      <p:sp>
        <p:nvSpPr>
          <p:cNvPr id="7" name="Text 4"/>
          <p:cNvSpPr/>
          <p:nvPr/>
        </p:nvSpPr>
        <p:spPr>
          <a:xfrm>
            <a:off x="19110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7680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Acquisition</a:t>
            </a:r>
            <a:endParaRPr lang="en-US" sz="1450" dirty="0"/>
          </a:p>
        </p:txBody>
      </p:sp>
      <p:sp>
        <p:nvSpPr>
          <p:cNvPr id="9" name="Text 6"/>
          <p:cNvSpPr/>
          <p:nvPr/>
        </p:nvSpPr>
        <p:spPr>
          <a:xfrm>
            <a:off x="7863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Flux caméra de rue</a:t>
            </a:r>
            <a:endParaRPr lang="en-US" sz="1100" dirty="0"/>
          </a:p>
        </p:txBody>
      </p:sp>
      <p:sp>
        <p:nvSpPr>
          <p:cNvPr id="10" name="Text 7"/>
          <p:cNvSpPr/>
          <p:nvPr/>
        </p:nvSpPr>
        <p:spPr>
          <a:xfrm>
            <a:off x="2368296" y="3429000"/>
            <a:ext cx="137160" cy="411480"/>
          </a:xfrm>
          <a:prstGeom prst="rect">
            <a:avLst/>
          </a:prstGeom>
          <a:noFill/>
          <a:ln/>
        </p:spPr>
        <p:txBody>
          <a:bodyPr wrap="square" rtlCol="0" anchor="ctr"/>
          <a:lstStyle/>
          <a:p>
            <a:pPr marL="0" indent="0" algn="ctr">
              <a:buNone/>
            </a:pPr>
            <a:r>
              <a:rPr lang="en-US" sz="1600" b="1" dirty="0">
                <a:solidFill>
                  <a:srgbClr val="8E7CC3"/>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505456" y="2377440"/>
            <a:ext cx="1691640" cy="2834640"/>
          </a:xfrm>
          <a:prstGeom prst="roundRect">
            <a:avLst>
              <a:gd name="adj" fmla="val 6486"/>
            </a:avLst>
          </a:prstGeom>
          <a:solidFill>
            <a:srgbClr val="FFFFFF"/>
          </a:solidFill>
          <a:ln w="12700">
            <a:solidFill>
              <a:srgbClr val="D9D0F2"/>
            </a:solidFill>
            <a:prstDash val="solid"/>
          </a:ln>
          <a:effectLst>
            <a:outerShdw blurRad="101600" dist="38100" dir="5400000" algn="bl" rotWithShape="0">
              <a:srgbClr val="1B2340">
                <a:alpha val="18000"/>
              </a:srgbClr>
            </a:outerShdw>
          </a:effectLst>
        </p:spPr>
      </p:sp>
      <p:sp>
        <p:nvSpPr>
          <p:cNvPr id="12" name="Shape 9"/>
          <p:cNvSpPr/>
          <p:nvPr/>
        </p:nvSpPr>
        <p:spPr>
          <a:xfrm>
            <a:off x="30220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13" name="Image 1" descr="/home/claude/ppt/icons/car_lavender.png"/>
          <p:cNvPicPr>
            <a:picLocks noChangeAspect="1"/>
          </p:cNvPicPr>
          <p:nvPr/>
        </p:nvPicPr>
        <p:blipFill>
          <a:blip r:embed="rId4"/>
          <a:stretch>
            <a:fillRect/>
          </a:stretch>
        </p:blipFill>
        <p:spPr>
          <a:xfrm>
            <a:off x="3170225" y="2799893"/>
            <a:ext cx="362102" cy="362102"/>
          </a:xfrm>
          <a:prstGeom prst="rect">
            <a:avLst/>
          </a:prstGeom>
        </p:spPr>
      </p:pic>
      <p:sp>
        <p:nvSpPr>
          <p:cNvPr id="14" name="Text 10"/>
          <p:cNvSpPr/>
          <p:nvPr/>
        </p:nvSpPr>
        <p:spPr>
          <a:xfrm>
            <a:off x="37398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25968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Détection</a:t>
            </a:r>
            <a:endParaRPr lang="en-US" sz="1450" dirty="0"/>
          </a:p>
        </p:txBody>
      </p:sp>
      <p:sp>
        <p:nvSpPr>
          <p:cNvPr id="16" name="Text 12"/>
          <p:cNvSpPr/>
          <p:nvPr/>
        </p:nvSpPr>
        <p:spPr>
          <a:xfrm>
            <a:off x="26151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YOLOv8 localise les véhicules</a:t>
            </a:r>
            <a:endParaRPr lang="en-US" sz="1100" dirty="0"/>
          </a:p>
        </p:txBody>
      </p:sp>
      <p:sp>
        <p:nvSpPr>
          <p:cNvPr id="17" name="Text 13"/>
          <p:cNvSpPr/>
          <p:nvPr/>
        </p:nvSpPr>
        <p:spPr>
          <a:xfrm>
            <a:off x="4197096" y="3429000"/>
            <a:ext cx="137160" cy="411480"/>
          </a:xfrm>
          <a:prstGeom prst="rect">
            <a:avLst/>
          </a:prstGeom>
          <a:noFill/>
          <a:ln/>
        </p:spPr>
        <p:txBody>
          <a:bodyPr wrap="square" rtlCol="0" anchor="ctr"/>
          <a:lstStyle/>
          <a:p>
            <a:pPr marL="0" indent="0" algn="ctr">
              <a:buNone/>
            </a:pPr>
            <a:r>
              <a:rPr lang="en-US" sz="1600" b="1" dirty="0">
                <a:solidFill>
                  <a:srgbClr val="8E7CC3"/>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4334256" y="2377440"/>
            <a:ext cx="1691640" cy="2834640"/>
          </a:xfrm>
          <a:prstGeom prst="roundRect">
            <a:avLst>
              <a:gd name="adj" fmla="val 6486"/>
            </a:avLst>
          </a:prstGeom>
          <a:solidFill>
            <a:srgbClr val="F1EDFB"/>
          </a:solidFill>
          <a:ln w="12700">
            <a:solidFill>
              <a:srgbClr val="D9D0F2"/>
            </a:solidFill>
            <a:prstDash val="solid"/>
          </a:ln>
          <a:effectLst>
            <a:outerShdw blurRad="101600" dist="38100" dir="5400000" algn="bl" rotWithShape="0">
              <a:srgbClr val="1B2340">
                <a:alpha val="18000"/>
              </a:srgbClr>
            </a:outerShdw>
          </a:effectLst>
        </p:spPr>
      </p:sp>
      <p:sp>
        <p:nvSpPr>
          <p:cNvPr id="19" name="Shape 15"/>
          <p:cNvSpPr/>
          <p:nvPr/>
        </p:nvSpPr>
        <p:spPr>
          <a:xfrm>
            <a:off x="48508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20" name="Image 2" descr="/home/claude/ppt/icons/link_lavender.png"/>
          <p:cNvPicPr>
            <a:picLocks noChangeAspect="1"/>
          </p:cNvPicPr>
          <p:nvPr/>
        </p:nvPicPr>
        <p:blipFill>
          <a:blip r:embed="rId5"/>
          <a:stretch>
            <a:fillRect/>
          </a:stretch>
        </p:blipFill>
        <p:spPr>
          <a:xfrm>
            <a:off x="4999025" y="2799893"/>
            <a:ext cx="362102" cy="362102"/>
          </a:xfrm>
          <a:prstGeom prst="rect">
            <a:avLst/>
          </a:prstGeom>
        </p:spPr>
      </p:pic>
      <p:sp>
        <p:nvSpPr>
          <p:cNvPr id="21" name="Text 16"/>
          <p:cNvSpPr/>
          <p:nvPr/>
        </p:nvSpPr>
        <p:spPr>
          <a:xfrm>
            <a:off x="55686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3</a:t>
            </a:r>
            <a:endParaRPr lang="en-US" sz="1200" dirty="0"/>
          </a:p>
        </p:txBody>
      </p:sp>
      <p:sp>
        <p:nvSpPr>
          <p:cNvPr id="22" name="Text 17"/>
          <p:cNvSpPr/>
          <p:nvPr/>
        </p:nvSpPr>
        <p:spPr>
          <a:xfrm>
            <a:off x="44256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Suivi</a:t>
            </a:r>
            <a:endParaRPr lang="en-US" sz="1450" dirty="0"/>
          </a:p>
        </p:txBody>
      </p:sp>
      <p:sp>
        <p:nvSpPr>
          <p:cNvPr id="23" name="Text 18"/>
          <p:cNvSpPr/>
          <p:nvPr/>
        </p:nvSpPr>
        <p:spPr>
          <a:xfrm>
            <a:off x="44439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DeepSORT garde l'identité</a:t>
            </a:r>
            <a:endParaRPr lang="en-US" sz="1100" dirty="0"/>
          </a:p>
        </p:txBody>
      </p:sp>
      <p:sp>
        <p:nvSpPr>
          <p:cNvPr id="24" name="Text 19"/>
          <p:cNvSpPr/>
          <p:nvPr/>
        </p:nvSpPr>
        <p:spPr>
          <a:xfrm>
            <a:off x="6025896" y="3429000"/>
            <a:ext cx="137160" cy="411480"/>
          </a:xfrm>
          <a:prstGeom prst="rect">
            <a:avLst/>
          </a:prstGeom>
          <a:noFill/>
          <a:ln/>
        </p:spPr>
        <p:txBody>
          <a:bodyPr wrap="square" rtlCol="0" anchor="ctr"/>
          <a:lstStyle/>
          <a:p>
            <a:pPr marL="0" indent="0" algn="ctr">
              <a:buNone/>
            </a:pPr>
            <a:r>
              <a:rPr lang="en-US" sz="1600" b="1" dirty="0">
                <a:solidFill>
                  <a:srgbClr val="8E7CC3"/>
                </a:solidFill>
                <a:latin typeface="Calibri" pitchFamily="34" charset="0"/>
                <a:ea typeface="Calibri" pitchFamily="34" charset="-122"/>
                <a:cs typeface="Calibri" pitchFamily="34" charset="-120"/>
              </a:rPr>
              <a:t>→</a:t>
            </a:r>
            <a:endParaRPr lang="en-US" sz="1600" dirty="0"/>
          </a:p>
        </p:txBody>
      </p:sp>
      <p:sp>
        <p:nvSpPr>
          <p:cNvPr id="25" name="Shape 20"/>
          <p:cNvSpPr/>
          <p:nvPr/>
        </p:nvSpPr>
        <p:spPr>
          <a:xfrm>
            <a:off x="6163056" y="2377440"/>
            <a:ext cx="1691640" cy="2834640"/>
          </a:xfrm>
          <a:prstGeom prst="roundRect">
            <a:avLst>
              <a:gd name="adj" fmla="val 6486"/>
            </a:avLst>
          </a:prstGeom>
          <a:solidFill>
            <a:srgbClr val="FFFFFF"/>
          </a:solidFill>
          <a:ln w="12700">
            <a:solidFill>
              <a:srgbClr val="D9D0F2"/>
            </a:solidFill>
            <a:prstDash val="solid"/>
          </a:ln>
          <a:effectLst>
            <a:outerShdw blurRad="101600" dist="38100" dir="5400000" algn="bl" rotWithShape="0">
              <a:srgbClr val="1B2340">
                <a:alpha val="18000"/>
              </a:srgbClr>
            </a:outerShdw>
          </a:effectLst>
        </p:spPr>
      </p:sp>
      <p:sp>
        <p:nvSpPr>
          <p:cNvPr id="26" name="Shape 21"/>
          <p:cNvSpPr/>
          <p:nvPr/>
        </p:nvSpPr>
        <p:spPr>
          <a:xfrm>
            <a:off x="66796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27" name="Image 3" descr="/home/claude/ppt/icons/scan_lavender.png"/>
          <p:cNvPicPr>
            <a:picLocks noChangeAspect="1"/>
          </p:cNvPicPr>
          <p:nvPr/>
        </p:nvPicPr>
        <p:blipFill>
          <a:blip r:embed="rId6"/>
          <a:stretch>
            <a:fillRect/>
          </a:stretch>
        </p:blipFill>
        <p:spPr>
          <a:xfrm>
            <a:off x="6827825" y="2799893"/>
            <a:ext cx="362102" cy="362102"/>
          </a:xfrm>
          <a:prstGeom prst="rect">
            <a:avLst/>
          </a:prstGeom>
        </p:spPr>
      </p:pic>
      <p:sp>
        <p:nvSpPr>
          <p:cNvPr id="28" name="Text 22"/>
          <p:cNvSpPr/>
          <p:nvPr/>
        </p:nvSpPr>
        <p:spPr>
          <a:xfrm>
            <a:off x="73974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4</a:t>
            </a:r>
            <a:endParaRPr lang="en-US" sz="1200" dirty="0"/>
          </a:p>
        </p:txBody>
      </p:sp>
      <p:sp>
        <p:nvSpPr>
          <p:cNvPr id="29" name="Text 23"/>
          <p:cNvSpPr/>
          <p:nvPr/>
        </p:nvSpPr>
        <p:spPr>
          <a:xfrm>
            <a:off x="62544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Plaque</a:t>
            </a:r>
            <a:endParaRPr lang="en-US" sz="1450" dirty="0"/>
          </a:p>
        </p:txBody>
      </p:sp>
      <p:sp>
        <p:nvSpPr>
          <p:cNvPr id="30" name="Text 24"/>
          <p:cNvSpPr/>
          <p:nvPr/>
        </p:nvSpPr>
        <p:spPr>
          <a:xfrm>
            <a:off x="62727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Localisation ANPR</a:t>
            </a:r>
            <a:endParaRPr lang="en-US" sz="1100" dirty="0"/>
          </a:p>
        </p:txBody>
      </p:sp>
      <p:sp>
        <p:nvSpPr>
          <p:cNvPr id="31" name="Text 25"/>
          <p:cNvSpPr/>
          <p:nvPr/>
        </p:nvSpPr>
        <p:spPr>
          <a:xfrm>
            <a:off x="7854696" y="3429000"/>
            <a:ext cx="137160" cy="411480"/>
          </a:xfrm>
          <a:prstGeom prst="rect">
            <a:avLst/>
          </a:prstGeom>
          <a:noFill/>
          <a:ln/>
        </p:spPr>
        <p:txBody>
          <a:bodyPr wrap="square" rtlCol="0" anchor="ctr"/>
          <a:lstStyle/>
          <a:p>
            <a:pPr marL="0" indent="0" algn="ctr">
              <a:buNone/>
            </a:pPr>
            <a:r>
              <a:rPr lang="en-US" sz="1600" b="1" dirty="0">
                <a:solidFill>
                  <a:srgbClr val="8E7CC3"/>
                </a:solidFill>
                <a:latin typeface="Calibri" pitchFamily="34" charset="0"/>
                <a:ea typeface="Calibri" pitchFamily="34" charset="-122"/>
                <a:cs typeface="Calibri" pitchFamily="34" charset="-120"/>
              </a:rPr>
              <a:t>→</a:t>
            </a:r>
            <a:endParaRPr lang="en-US" sz="1600" dirty="0"/>
          </a:p>
        </p:txBody>
      </p:sp>
      <p:sp>
        <p:nvSpPr>
          <p:cNvPr id="32" name="Shape 26"/>
          <p:cNvSpPr/>
          <p:nvPr/>
        </p:nvSpPr>
        <p:spPr>
          <a:xfrm>
            <a:off x="7991856" y="2377440"/>
            <a:ext cx="1691640" cy="2834640"/>
          </a:xfrm>
          <a:prstGeom prst="roundRect">
            <a:avLst>
              <a:gd name="adj" fmla="val 6486"/>
            </a:avLst>
          </a:prstGeom>
          <a:solidFill>
            <a:srgbClr val="F1EDFB"/>
          </a:solidFill>
          <a:ln w="12700">
            <a:solidFill>
              <a:srgbClr val="D9D0F2"/>
            </a:solidFill>
            <a:prstDash val="solid"/>
          </a:ln>
          <a:effectLst>
            <a:outerShdw blurRad="101600" dist="38100" dir="5400000" algn="bl" rotWithShape="0">
              <a:srgbClr val="1B2340">
                <a:alpha val="18000"/>
              </a:srgbClr>
            </a:outerShdw>
          </a:effectLst>
        </p:spPr>
      </p:sp>
      <p:sp>
        <p:nvSpPr>
          <p:cNvPr id="33" name="Shape 27"/>
          <p:cNvSpPr/>
          <p:nvPr/>
        </p:nvSpPr>
        <p:spPr>
          <a:xfrm>
            <a:off x="85084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34" name="Image 4" descr="/home/claude/ppt/icons/type_lavender.png"/>
          <p:cNvPicPr>
            <a:picLocks noChangeAspect="1"/>
          </p:cNvPicPr>
          <p:nvPr/>
        </p:nvPicPr>
        <p:blipFill>
          <a:blip r:embed="rId7"/>
          <a:stretch>
            <a:fillRect/>
          </a:stretch>
        </p:blipFill>
        <p:spPr>
          <a:xfrm>
            <a:off x="8656625" y="2799893"/>
            <a:ext cx="362102" cy="362102"/>
          </a:xfrm>
          <a:prstGeom prst="rect">
            <a:avLst/>
          </a:prstGeom>
        </p:spPr>
      </p:pic>
      <p:sp>
        <p:nvSpPr>
          <p:cNvPr id="35" name="Text 28"/>
          <p:cNvSpPr/>
          <p:nvPr/>
        </p:nvSpPr>
        <p:spPr>
          <a:xfrm>
            <a:off x="92262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5</a:t>
            </a:r>
            <a:endParaRPr lang="en-US" sz="1200" dirty="0"/>
          </a:p>
        </p:txBody>
      </p:sp>
      <p:sp>
        <p:nvSpPr>
          <p:cNvPr id="36" name="Text 29"/>
          <p:cNvSpPr/>
          <p:nvPr/>
        </p:nvSpPr>
        <p:spPr>
          <a:xfrm>
            <a:off x="80832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Lecture</a:t>
            </a:r>
            <a:endParaRPr lang="en-US" sz="1450" dirty="0"/>
          </a:p>
        </p:txBody>
      </p:sp>
      <p:sp>
        <p:nvSpPr>
          <p:cNvPr id="37" name="Text 30"/>
          <p:cNvSpPr/>
          <p:nvPr/>
        </p:nvSpPr>
        <p:spPr>
          <a:xfrm>
            <a:off x="81015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OCR du texte</a:t>
            </a:r>
            <a:endParaRPr lang="en-US" sz="1100" dirty="0"/>
          </a:p>
        </p:txBody>
      </p:sp>
      <p:sp>
        <p:nvSpPr>
          <p:cNvPr id="38" name="Text 31"/>
          <p:cNvSpPr/>
          <p:nvPr/>
        </p:nvSpPr>
        <p:spPr>
          <a:xfrm>
            <a:off x="9683496" y="3429000"/>
            <a:ext cx="137160" cy="411480"/>
          </a:xfrm>
          <a:prstGeom prst="rect">
            <a:avLst/>
          </a:prstGeom>
          <a:noFill/>
          <a:ln/>
        </p:spPr>
        <p:txBody>
          <a:bodyPr wrap="square" rtlCol="0" anchor="ctr"/>
          <a:lstStyle/>
          <a:p>
            <a:pPr marL="0" indent="0" algn="ctr">
              <a:buNone/>
            </a:pPr>
            <a:r>
              <a:rPr lang="en-US" sz="1600" b="1" dirty="0">
                <a:solidFill>
                  <a:srgbClr val="8E7CC3"/>
                </a:solidFill>
                <a:latin typeface="Calibri" pitchFamily="34" charset="0"/>
                <a:ea typeface="Calibri" pitchFamily="34" charset="-122"/>
                <a:cs typeface="Calibri" pitchFamily="34" charset="-120"/>
              </a:rPr>
              <a:t>→</a:t>
            </a:r>
            <a:endParaRPr lang="en-US" sz="1600" dirty="0"/>
          </a:p>
        </p:txBody>
      </p:sp>
      <p:sp>
        <p:nvSpPr>
          <p:cNvPr id="39" name="Shape 32"/>
          <p:cNvSpPr/>
          <p:nvPr/>
        </p:nvSpPr>
        <p:spPr>
          <a:xfrm>
            <a:off x="9820656" y="2377440"/>
            <a:ext cx="1691640" cy="2834640"/>
          </a:xfrm>
          <a:prstGeom prst="roundRect">
            <a:avLst>
              <a:gd name="adj" fmla="val 6486"/>
            </a:avLst>
          </a:prstGeom>
          <a:solidFill>
            <a:srgbClr val="FFFFFF"/>
          </a:solidFill>
          <a:ln w="12700">
            <a:solidFill>
              <a:srgbClr val="D9D0F2"/>
            </a:solidFill>
            <a:prstDash val="solid"/>
          </a:ln>
          <a:effectLst>
            <a:outerShdw blurRad="101600" dist="38100" dir="5400000" algn="bl" rotWithShape="0">
              <a:srgbClr val="1B2340">
                <a:alpha val="18000"/>
              </a:srgbClr>
            </a:outerShdw>
          </a:effectLst>
        </p:spPr>
      </p:sp>
      <p:sp>
        <p:nvSpPr>
          <p:cNvPr id="40" name="Shape 33"/>
          <p:cNvSpPr/>
          <p:nvPr/>
        </p:nvSpPr>
        <p:spPr>
          <a:xfrm>
            <a:off x="10337292" y="2651760"/>
            <a:ext cx="658368" cy="658368"/>
          </a:xfrm>
          <a:prstGeom prst="ellipse">
            <a:avLst/>
          </a:prstGeom>
          <a:solidFill>
            <a:srgbClr val="1B2340"/>
          </a:solidFill>
          <a:ln/>
          <a:effectLst>
            <a:outerShdw blurRad="152400" dist="50800" dir="5400000" algn="bl" rotWithShape="0">
              <a:srgbClr val="1B2340">
                <a:alpha val="18000"/>
              </a:srgbClr>
            </a:outerShdw>
          </a:effectLst>
        </p:spPr>
      </p:sp>
      <p:pic>
        <p:nvPicPr>
          <p:cNvPr id="41" name="Image 5" descr="/home/claude/ppt/icons/alert_lavender.png"/>
          <p:cNvPicPr>
            <a:picLocks noChangeAspect="1"/>
          </p:cNvPicPr>
          <p:nvPr/>
        </p:nvPicPr>
        <p:blipFill>
          <a:blip r:embed="rId8"/>
          <a:stretch>
            <a:fillRect/>
          </a:stretch>
        </p:blipFill>
        <p:spPr>
          <a:xfrm>
            <a:off x="10485425" y="2799893"/>
            <a:ext cx="362102" cy="362102"/>
          </a:xfrm>
          <a:prstGeom prst="rect">
            <a:avLst/>
          </a:prstGeom>
        </p:spPr>
      </p:pic>
      <p:sp>
        <p:nvSpPr>
          <p:cNvPr id="42" name="Text 34"/>
          <p:cNvSpPr/>
          <p:nvPr/>
        </p:nvSpPr>
        <p:spPr>
          <a:xfrm>
            <a:off x="11055096" y="2487168"/>
            <a:ext cx="365760" cy="320040"/>
          </a:xfrm>
          <a:prstGeom prst="rect">
            <a:avLst/>
          </a:prstGeom>
          <a:noFill/>
          <a:ln/>
        </p:spPr>
        <p:txBody>
          <a:bodyPr wrap="square" rtlCol="0" anchor="ctr"/>
          <a:lstStyle/>
          <a:p>
            <a:pPr marL="0" indent="0" algn="r">
              <a:buNone/>
            </a:pPr>
            <a:r>
              <a:rPr lang="en-US" sz="1200" b="1" dirty="0">
                <a:solidFill>
                  <a:srgbClr val="8E7CC3"/>
                </a:solidFill>
                <a:latin typeface="Calibri" pitchFamily="34" charset="0"/>
                <a:ea typeface="Calibri" pitchFamily="34" charset="-122"/>
                <a:cs typeface="Calibri" pitchFamily="34" charset="-120"/>
              </a:rPr>
              <a:t>6</a:t>
            </a:r>
            <a:endParaRPr lang="en-US" sz="1200" dirty="0"/>
          </a:p>
        </p:txBody>
      </p:sp>
      <p:sp>
        <p:nvSpPr>
          <p:cNvPr id="43" name="Text 35"/>
          <p:cNvSpPr/>
          <p:nvPr/>
        </p:nvSpPr>
        <p:spPr>
          <a:xfrm>
            <a:off x="9912096" y="3429000"/>
            <a:ext cx="1508760" cy="41148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Infraction</a:t>
            </a:r>
            <a:endParaRPr lang="en-US" sz="1450" dirty="0"/>
          </a:p>
        </p:txBody>
      </p:sp>
      <p:sp>
        <p:nvSpPr>
          <p:cNvPr id="44" name="Text 36"/>
          <p:cNvSpPr/>
          <p:nvPr/>
        </p:nvSpPr>
        <p:spPr>
          <a:xfrm>
            <a:off x="9930384" y="3886200"/>
            <a:ext cx="1472184" cy="1188720"/>
          </a:xfrm>
          <a:prstGeom prst="rect">
            <a:avLst/>
          </a:prstGeom>
          <a:noFill/>
          <a:ln/>
        </p:spPr>
        <p:txBody>
          <a:bodyPr wrap="square" rtlCol="0" anchor="ctr"/>
          <a:lstStyle/>
          <a:p>
            <a:pPr marL="0" indent="0" algn="ctr">
              <a:lnSpc>
                <a:spcPts val="1400"/>
              </a:lnSpc>
              <a:buNone/>
            </a:pPr>
            <a:r>
              <a:rPr lang="en-US" sz="1100" dirty="0">
                <a:solidFill>
                  <a:srgbClr val="6B6B7B"/>
                </a:solidFill>
                <a:latin typeface="Calibri" pitchFamily="34" charset="0"/>
                <a:ea typeface="Calibri" pitchFamily="34" charset="-122"/>
                <a:cs typeface="Calibri" pitchFamily="34" charset="-120"/>
              </a:rPr>
              <a:t>Règle métier + preuve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BRIQUE TECHNOLOGIQUE N°1</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marL="0" indent="0">
              <a:buNone/>
            </a:pPr>
            <a:r>
              <a:rPr lang="en-US" sz="3000" b="1" dirty="0">
                <a:solidFill>
                  <a:srgbClr val="1B2340"/>
                </a:solidFill>
                <a:latin typeface="Cambria" pitchFamily="34" charset="0"/>
                <a:ea typeface="Cambria" pitchFamily="34" charset="-122"/>
                <a:cs typeface="Cambria" pitchFamily="34" charset="-120"/>
              </a:rPr>
              <a:t>Détecter, puis ne jamais perdre de vue</a:t>
            </a:r>
            <a:endParaRPr lang="en-US" sz="3000" dirty="0"/>
          </a:p>
        </p:txBody>
      </p:sp>
      <p:sp>
        <p:nvSpPr>
          <p:cNvPr id="4" name="Shape 2"/>
          <p:cNvSpPr/>
          <p:nvPr/>
        </p:nvSpPr>
        <p:spPr>
          <a:xfrm>
            <a:off x="548640" y="1874520"/>
            <a:ext cx="5212080" cy="4114800"/>
          </a:xfrm>
          <a:prstGeom prst="roundRect">
            <a:avLst>
              <a:gd name="adj" fmla="val 3111"/>
            </a:avLst>
          </a:prstGeom>
          <a:solidFill>
            <a:srgbClr val="1B2340"/>
          </a:solidFill>
          <a:ln/>
          <a:effectLst>
            <a:outerShdw blurRad="152400" dist="50800" dir="5400000" algn="bl" rotWithShape="0">
              <a:srgbClr val="1B2340">
                <a:alpha val="18000"/>
              </a:srgbClr>
            </a:outerShdw>
          </a:effectLst>
        </p:spPr>
      </p:sp>
      <p:sp>
        <p:nvSpPr>
          <p:cNvPr id="5" name="Shape 3"/>
          <p:cNvSpPr/>
          <p:nvPr/>
        </p:nvSpPr>
        <p:spPr>
          <a:xfrm>
            <a:off x="914400" y="2240280"/>
            <a:ext cx="868680" cy="868680"/>
          </a:xfrm>
          <a:prstGeom prst="ellipse">
            <a:avLst/>
          </a:prstGeom>
          <a:solidFill>
            <a:srgbClr val="8E7CC3"/>
          </a:solidFill>
          <a:ln/>
          <a:effectLst>
            <a:outerShdw blurRad="152400" dist="50800" dir="5400000" algn="bl" rotWithShape="0">
              <a:srgbClr val="1B2340">
                <a:alpha val="18000"/>
              </a:srgbClr>
            </a:outerShdw>
          </a:effectLst>
        </p:spPr>
      </p:sp>
      <p:pic>
        <p:nvPicPr>
          <p:cNvPr id="6" name="Image 0" descr="/home/claude/ppt/icons/car_navy.png"/>
          <p:cNvPicPr>
            <a:picLocks noChangeAspect="1"/>
          </p:cNvPicPr>
          <p:nvPr/>
        </p:nvPicPr>
        <p:blipFill>
          <a:blip r:embed="rId3"/>
          <a:stretch>
            <a:fillRect/>
          </a:stretch>
        </p:blipFill>
        <p:spPr>
          <a:xfrm>
            <a:off x="1105510" y="2431390"/>
            <a:ext cx="486461" cy="486461"/>
          </a:xfrm>
          <a:prstGeom prst="rect">
            <a:avLst/>
          </a:prstGeom>
        </p:spPr>
      </p:pic>
      <p:sp>
        <p:nvSpPr>
          <p:cNvPr id="7" name="Text 4"/>
          <p:cNvSpPr/>
          <p:nvPr/>
        </p:nvSpPr>
        <p:spPr>
          <a:xfrm>
            <a:off x="1965960" y="2331720"/>
            <a:ext cx="356616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YOLOv8</a:t>
            </a:r>
            <a:endParaRPr lang="en-US" sz="2200" dirty="0"/>
          </a:p>
        </p:txBody>
      </p:sp>
      <p:sp>
        <p:nvSpPr>
          <p:cNvPr id="8" name="Text 5"/>
          <p:cNvSpPr/>
          <p:nvPr/>
        </p:nvSpPr>
        <p:spPr>
          <a:xfrm>
            <a:off x="1965960" y="2743200"/>
            <a:ext cx="3566160" cy="365760"/>
          </a:xfrm>
          <a:prstGeom prst="rect">
            <a:avLst/>
          </a:prstGeom>
          <a:noFill/>
          <a:ln/>
        </p:spPr>
        <p:txBody>
          <a:bodyPr wrap="square" rtlCol="0" anchor="ctr"/>
          <a:lstStyle/>
          <a:p>
            <a:pPr marL="0" indent="0">
              <a:buNone/>
            </a:pPr>
            <a:r>
              <a:rPr lang="en-US" sz="1300" i="1" dirty="0">
                <a:solidFill>
                  <a:srgbClr val="8E7CC3"/>
                </a:solidFill>
                <a:latin typeface="Calibri" pitchFamily="34" charset="0"/>
                <a:ea typeface="Calibri" pitchFamily="34" charset="-122"/>
                <a:cs typeface="Calibri" pitchFamily="34" charset="-120"/>
              </a:rPr>
              <a:t>« Où sont les véhicules ? »</a:t>
            </a:r>
            <a:endParaRPr lang="en-US" sz="1300" dirty="0"/>
          </a:p>
        </p:txBody>
      </p:sp>
      <p:sp>
        <p:nvSpPr>
          <p:cNvPr id="9" name="Text 6"/>
          <p:cNvSpPr/>
          <p:nvPr/>
        </p:nvSpPr>
        <p:spPr>
          <a:xfrm>
            <a:off x="914400" y="3291840"/>
            <a:ext cx="4480560" cy="1371600"/>
          </a:xfrm>
          <a:prstGeom prst="rect">
            <a:avLst/>
          </a:prstGeom>
          <a:noFill/>
          <a:ln/>
        </p:spPr>
        <p:txBody>
          <a:bodyPr wrap="square" rtlCol="0" anchor="ctr"/>
          <a:lstStyle/>
          <a:p>
            <a:pPr marL="0" indent="0">
              <a:lnSpc>
                <a:spcPts val="2000"/>
              </a:lnSpc>
              <a:buNone/>
            </a:pPr>
            <a:r>
              <a:rPr lang="en-US" sz="1300" dirty="0">
                <a:solidFill>
                  <a:srgbClr val="CADCFC"/>
                </a:solidFill>
                <a:latin typeface="Calibri" pitchFamily="34" charset="0"/>
                <a:ea typeface="Calibri" pitchFamily="34" charset="-122"/>
                <a:cs typeface="Calibri" pitchFamily="34" charset="-120"/>
              </a:rPr>
              <a:t>• Détection en une seule passe, temps réel
• Boîtes englobantes + score de confiance
• Robuste aux occlusions et échelles variées</a:t>
            </a:r>
            <a:endParaRPr lang="en-US" sz="1300" dirty="0"/>
          </a:p>
        </p:txBody>
      </p:sp>
      <p:sp>
        <p:nvSpPr>
          <p:cNvPr id="10" name="Shape 7"/>
          <p:cNvSpPr/>
          <p:nvPr/>
        </p:nvSpPr>
        <p:spPr>
          <a:xfrm>
            <a:off x="914400" y="4892040"/>
            <a:ext cx="4480560" cy="822960"/>
          </a:xfrm>
          <a:prstGeom prst="roundRect">
            <a:avLst>
              <a:gd name="adj" fmla="val 11111"/>
            </a:avLst>
          </a:prstGeom>
          <a:solidFill>
            <a:srgbClr val="222C52"/>
          </a:solidFill>
          <a:ln/>
        </p:spPr>
      </p:sp>
      <p:sp>
        <p:nvSpPr>
          <p:cNvPr id="11" name="Text 8"/>
          <p:cNvSpPr/>
          <p:nvPr/>
        </p:nvSpPr>
        <p:spPr>
          <a:xfrm>
            <a:off x="1097280" y="4892040"/>
            <a:ext cx="4114800" cy="822960"/>
          </a:xfrm>
          <a:prstGeom prst="rect">
            <a:avLst/>
          </a:prstGeom>
          <a:noFill/>
          <a:ln/>
        </p:spPr>
        <p:txBody>
          <a:bodyPr wrap="square" rtlCol="0" anchor="ctr"/>
          <a:lstStyle/>
          <a:p>
            <a:pPr marL="0" indent="0">
              <a:buNone/>
            </a:pPr>
            <a:r>
              <a:rPr lang="en-US" sz="2000" b="1" dirty="0">
                <a:solidFill>
                  <a:srgbClr val="8E7CC3"/>
                </a:solidFill>
                <a:latin typeface="Calibri" pitchFamily="34" charset="0"/>
                <a:ea typeface="Calibri" pitchFamily="34" charset="-122"/>
                <a:cs typeface="Calibri" pitchFamily="34" charset="-120"/>
              </a:rPr>
              <a:t>47 FPS</a:t>
            </a:r>
            <a:r>
              <a:rPr lang="en-US" sz="1200" dirty="0">
                <a:solidFill>
                  <a:srgbClr val="CADCFC"/>
                </a:solidFill>
                <a:latin typeface="Calibri" pitchFamily="34" charset="0"/>
                <a:ea typeface="Calibri" pitchFamily="34" charset="-122"/>
                <a:cs typeface="Calibri" pitchFamily="34" charset="-120"/>
              </a:rPr>
              <a:t>   vitesse de traitement en temps réel</a:t>
            </a:r>
            <a:endParaRPr lang="en-US" sz="2000" dirty="0"/>
          </a:p>
        </p:txBody>
      </p:sp>
      <p:sp>
        <p:nvSpPr>
          <p:cNvPr id="12" name="Shape 9"/>
          <p:cNvSpPr/>
          <p:nvPr/>
        </p:nvSpPr>
        <p:spPr>
          <a:xfrm>
            <a:off x="5989320" y="1874520"/>
            <a:ext cx="5623560" cy="4114800"/>
          </a:xfrm>
          <a:prstGeom prst="roundRect">
            <a:avLst>
              <a:gd name="adj" fmla="val 3111"/>
            </a:avLst>
          </a:prstGeom>
          <a:solidFill>
            <a:srgbClr val="F1EDFB"/>
          </a:solidFill>
          <a:ln w="12700">
            <a:solidFill>
              <a:srgbClr val="D9D0F2"/>
            </a:solidFill>
            <a:prstDash val="solid"/>
          </a:ln>
          <a:effectLst>
            <a:outerShdw blurRad="101600" dist="38100" dir="5400000" algn="bl" rotWithShape="0">
              <a:srgbClr val="1B2340">
                <a:alpha val="18000"/>
              </a:srgbClr>
            </a:outerShdw>
          </a:effectLst>
        </p:spPr>
      </p:sp>
      <p:sp>
        <p:nvSpPr>
          <p:cNvPr id="13" name="Shape 10"/>
          <p:cNvSpPr/>
          <p:nvPr/>
        </p:nvSpPr>
        <p:spPr>
          <a:xfrm>
            <a:off x="6355080" y="2240280"/>
            <a:ext cx="868680" cy="868680"/>
          </a:xfrm>
          <a:prstGeom prst="ellipse">
            <a:avLst/>
          </a:prstGeom>
          <a:solidFill>
            <a:srgbClr val="1B2340"/>
          </a:solidFill>
          <a:ln/>
          <a:effectLst>
            <a:outerShdw blurRad="152400" dist="50800" dir="5400000" algn="bl" rotWithShape="0">
              <a:srgbClr val="1B2340">
                <a:alpha val="18000"/>
              </a:srgbClr>
            </a:outerShdw>
          </a:effectLst>
        </p:spPr>
      </p:sp>
      <p:pic>
        <p:nvPicPr>
          <p:cNvPr id="14" name="Image 1" descr="/home/claude/ppt/icons/link_lavender.png"/>
          <p:cNvPicPr>
            <a:picLocks noChangeAspect="1"/>
          </p:cNvPicPr>
          <p:nvPr/>
        </p:nvPicPr>
        <p:blipFill>
          <a:blip r:embed="rId4"/>
          <a:stretch>
            <a:fillRect/>
          </a:stretch>
        </p:blipFill>
        <p:spPr>
          <a:xfrm>
            <a:off x="6546190" y="2431390"/>
            <a:ext cx="486461" cy="486461"/>
          </a:xfrm>
          <a:prstGeom prst="rect">
            <a:avLst/>
          </a:prstGeom>
        </p:spPr>
      </p:pic>
      <p:sp>
        <p:nvSpPr>
          <p:cNvPr id="15" name="Text 11"/>
          <p:cNvSpPr/>
          <p:nvPr/>
        </p:nvSpPr>
        <p:spPr>
          <a:xfrm>
            <a:off x="7406640" y="2331720"/>
            <a:ext cx="4023360" cy="457200"/>
          </a:xfrm>
          <a:prstGeom prst="rect">
            <a:avLst/>
          </a:prstGeom>
          <a:noFill/>
          <a:ln/>
        </p:spPr>
        <p:txBody>
          <a:bodyPr wrap="square" rtlCol="0" anchor="ctr"/>
          <a:lstStyle/>
          <a:p>
            <a:pPr marL="0" indent="0">
              <a:buNone/>
            </a:pPr>
            <a:r>
              <a:rPr lang="en-US" sz="2200" b="1" dirty="0">
                <a:solidFill>
                  <a:srgbClr val="1B2340"/>
                </a:solidFill>
                <a:latin typeface="Cambria" pitchFamily="34" charset="0"/>
                <a:ea typeface="Cambria" pitchFamily="34" charset="-122"/>
                <a:cs typeface="Cambria" pitchFamily="34" charset="-120"/>
              </a:rPr>
              <a:t>DeepSORT</a:t>
            </a:r>
            <a:endParaRPr lang="en-US" sz="2200" dirty="0"/>
          </a:p>
        </p:txBody>
      </p:sp>
      <p:sp>
        <p:nvSpPr>
          <p:cNvPr id="16" name="Text 12"/>
          <p:cNvSpPr/>
          <p:nvPr/>
        </p:nvSpPr>
        <p:spPr>
          <a:xfrm>
            <a:off x="7406640" y="2743200"/>
            <a:ext cx="4023360" cy="365760"/>
          </a:xfrm>
          <a:prstGeom prst="rect">
            <a:avLst/>
          </a:prstGeom>
          <a:noFill/>
          <a:ln/>
        </p:spPr>
        <p:txBody>
          <a:bodyPr wrap="square" rtlCol="0" anchor="ctr"/>
          <a:lstStyle/>
          <a:p>
            <a:pPr marL="0" indent="0">
              <a:buNone/>
            </a:pPr>
            <a:r>
              <a:rPr lang="en-US" sz="1300" i="1" dirty="0">
                <a:solidFill>
                  <a:srgbClr val="6B6B7B"/>
                </a:solidFill>
                <a:latin typeface="Calibri" pitchFamily="34" charset="0"/>
                <a:ea typeface="Calibri" pitchFamily="34" charset="-122"/>
                <a:cs typeface="Calibri" pitchFamily="34" charset="-120"/>
              </a:rPr>
              <a:t>« Est-ce le même véhicule qu'avant ? »</a:t>
            </a:r>
            <a:endParaRPr lang="en-US" sz="1300" dirty="0"/>
          </a:p>
        </p:txBody>
      </p:sp>
      <p:sp>
        <p:nvSpPr>
          <p:cNvPr id="17" name="Text 13"/>
          <p:cNvSpPr/>
          <p:nvPr/>
        </p:nvSpPr>
        <p:spPr>
          <a:xfrm>
            <a:off x="6355080" y="3291840"/>
            <a:ext cx="5029200" cy="1371600"/>
          </a:xfrm>
          <a:prstGeom prst="rect">
            <a:avLst/>
          </a:prstGeom>
          <a:noFill/>
          <a:ln/>
        </p:spPr>
        <p:txBody>
          <a:bodyPr wrap="square" rtlCol="0" anchor="ctr"/>
          <a:lstStyle/>
          <a:p>
            <a:pPr marL="0" indent="0">
              <a:lnSpc>
                <a:spcPts val="2000"/>
              </a:lnSpc>
              <a:buNone/>
            </a:pPr>
            <a:r>
              <a:rPr lang="en-US" sz="1300" dirty="0">
                <a:solidFill>
                  <a:srgbClr val="2A2A38"/>
                </a:solidFill>
                <a:latin typeface="Calibri" pitchFamily="34" charset="0"/>
                <a:ea typeface="Calibri" pitchFamily="34" charset="-122"/>
                <a:cs typeface="Calibri" pitchFamily="34" charset="-120"/>
              </a:rPr>
              <a:t>• Filtre de Kalman : prédit la trajectoire
• Algorithme hongrois : associe détections et identités
• Signature d'apparence : ré-identifie après occlusion</a:t>
            </a:r>
            <a:endParaRPr lang="en-US" sz="1300" dirty="0"/>
          </a:p>
        </p:txBody>
      </p:sp>
      <p:sp>
        <p:nvSpPr>
          <p:cNvPr id="18" name="Shape 14"/>
          <p:cNvSpPr/>
          <p:nvPr/>
        </p:nvSpPr>
        <p:spPr>
          <a:xfrm>
            <a:off x="6355080" y="4892040"/>
            <a:ext cx="5029200" cy="822960"/>
          </a:xfrm>
          <a:prstGeom prst="roundRect">
            <a:avLst>
              <a:gd name="adj" fmla="val 11111"/>
            </a:avLst>
          </a:prstGeom>
          <a:solidFill>
            <a:srgbClr val="FFFFFF"/>
          </a:solidFill>
          <a:ln/>
        </p:spPr>
      </p:sp>
      <p:sp>
        <p:nvSpPr>
          <p:cNvPr id="19" name="Text 15"/>
          <p:cNvSpPr/>
          <p:nvPr/>
        </p:nvSpPr>
        <p:spPr>
          <a:xfrm>
            <a:off x="6537960" y="4892040"/>
            <a:ext cx="4663440" cy="822960"/>
          </a:xfrm>
          <a:prstGeom prst="rect">
            <a:avLst/>
          </a:prstGeom>
          <a:noFill/>
          <a:ln/>
        </p:spPr>
        <p:txBody>
          <a:bodyPr wrap="square" rtlCol="0" anchor="ctr"/>
          <a:lstStyle/>
          <a:p>
            <a:pPr marL="0" indent="0">
              <a:buNone/>
            </a:pPr>
            <a:r>
              <a:rPr lang="en-US" sz="1800" b="1" dirty="0">
                <a:solidFill>
                  <a:srgbClr val="1B2340"/>
                </a:solidFill>
                <a:latin typeface="Calibri" pitchFamily="34" charset="0"/>
                <a:ea typeface="Calibri" pitchFamily="34" charset="-122"/>
                <a:cs typeface="Calibri" pitchFamily="34" charset="-120"/>
              </a:rPr>
              <a:t>Zéro rupture </a:t>
            </a:r>
            <a:r>
              <a:rPr lang="en-US" sz="1200" dirty="0">
                <a:solidFill>
                  <a:srgbClr val="6B6B7B"/>
                </a:solidFill>
                <a:latin typeface="Calibri" pitchFamily="34" charset="0"/>
                <a:ea typeface="Calibri" pitchFamily="34" charset="-122"/>
                <a:cs typeface="Calibri" pitchFamily="34" charset="-120"/>
              </a:rPr>
              <a:t>d'identité même si un véhicule est masqué</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BRIQUE TECHNOLOGIQUE N°2</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marL="0" indent="0">
              <a:buNone/>
            </a:pPr>
            <a:r>
              <a:rPr lang="en-US" sz="3000" b="1" dirty="0">
                <a:solidFill>
                  <a:srgbClr val="1B2340"/>
                </a:solidFill>
                <a:latin typeface="Cambria" pitchFamily="34" charset="0"/>
                <a:ea typeface="Cambria" pitchFamily="34" charset="-122"/>
                <a:cs typeface="Cambria" pitchFamily="34" charset="-120"/>
              </a:rPr>
              <a:t>De l'image au texte : lire la plaque</a:t>
            </a:r>
            <a:endParaRPr lang="en-US" sz="3000" dirty="0"/>
          </a:p>
        </p:txBody>
      </p:sp>
      <p:sp>
        <p:nvSpPr>
          <p:cNvPr id="4" name="Shape 2"/>
          <p:cNvSpPr/>
          <p:nvPr/>
        </p:nvSpPr>
        <p:spPr>
          <a:xfrm>
            <a:off x="548640" y="2057400"/>
            <a:ext cx="3520440" cy="2606040"/>
          </a:xfrm>
          <a:prstGeom prst="roundRect">
            <a:avLst>
              <a:gd name="adj" fmla="val 4211"/>
            </a:avLst>
          </a:prstGeom>
          <a:solidFill>
            <a:srgbClr val="F1EDFB"/>
          </a:solidFill>
          <a:ln/>
          <a:effectLst>
            <a:outerShdw blurRad="101600" dist="38100" dir="5400000" algn="bl" rotWithShape="0">
              <a:srgbClr val="1B2340">
                <a:alpha val="18000"/>
              </a:srgbClr>
            </a:outerShdw>
          </a:effectLst>
        </p:spPr>
      </p:sp>
      <p:sp>
        <p:nvSpPr>
          <p:cNvPr id="5" name="Shape 3"/>
          <p:cNvSpPr/>
          <p:nvPr/>
        </p:nvSpPr>
        <p:spPr>
          <a:xfrm>
            <a:off x="804672" y="233172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6" name="Image 0" descr="/home/claude/ppt/icons/scan_lavender.png"/>
          <p:cNvPicPr>
            <a:picLocks noChangeAspect="1"/>
          </p:cNvPicPr>
          <p:nvPr/>
        </p:nvPicPr>
        <p:blipFill>
          <a:blip r:embed="rId3"/>
          <a:stretch>
            <a:fillRect/>
          </a:stretch>
        </p:blipFill>
        <p:spPr>
          <a:xfrm>
            <a:off x="969264" y="2496312"/>
            <a:ext cx="402336" cy="402336"/>
          </a:xfrm>
          <a:prstGeom prst="rect">
            <a:avLst/>
          </a:prstGeom>
        </p:spPr>
      </p:pic>
      <p:sp>
        <p:nvSpPr>
          <p:cNvPr id="7" name="Text 4"/>
          <p:cNvSpPr/>
          <p:nvPr/>
        </p:nvSpPr>
        <p:spPr>
          <a:xfrm>
            <a:off x="804672" y="3200400"/>
            <a:ext cx="3008376" cy="502920"/>
          </a:xfrm>
          <a:prstGeom prst="rect">
            <a:avLst/>
          </a:prstGeom>
          <a:noFill/>
          <a:ln/>
        </p:spPr>
        <p:txBody>
          <a:bodyPr wrap="square" rtlCol="0" anchor="ctr"/>
          <a:lstStyle/>
          <a:p>
            <a:pPr marL="0" indent="0">
              <a:buNone/>
            </a:pPr>
            <a:r>
              <a:rPr lang="en-US" sz="1550" b="1" dirty="0">
                <a:solidFill>
                  <a:srgbClr val="1B2340"/>
                </a:solidFill>
                <a:latin typeface="Calibri" pitchFamily="34" charset="0"/>
                <a:ea typeface="Calibri" pitchFamily="34" charset="-122"/>
                <a:cs typeface="Calibri" pitchFamily="34" charset="-120"/>
              </a:rPr>
              <a:t>Extraction</a:t>
            </a:r>
            <a:endParaRPr lang="en-US" sz="1550" dirty="0"/>
          </a:p>
        </p:txBody>
      </p:sp>
      <p:sp>
        <p:nvSpPr>
          <p:cNvPr id="8" name="Text 5"/>
          <p:cNvSpPr/>
          <p:nvPr/>
        </p:nvSpPr>
        <p:spPr>
          <a:xfrm>
            <a:off x="804672" y="3703320"/>
            <a:ext cx="3008376" cy="914400"/>
          </a:xfrm>
          <a:prstGeom prst="rect">
            <a:avLst/>
          </a:prstGeom>
          <a:noFill/>
          <a:ln/>
        </p:spPr>
        <p:txBody>
          <a:bodyPr wrap="square" rtlCol="0" anchor="ctr"/>
          <a:lstStyle/>
          <a:p>
            <a:pPr marL="0" indent="0">
              <a:lnSpc>
                <a:spcPts val="1500"/>
              </a:lnSpc>
              <a:buNone/>
            </a:pPr>
            <a:r>
              <a:rPr lang="en-US" sz="1150" dirty="0">
                <a:solidFill>
                  <a:srgbClr val="6B6B7B"/>
                </a:solidFill>
                <a:latin typeface="Calibri" pitchFamily="34" charset="0"/>
                <a:ea typeface="Calibri" pitchFamily="34" charset="-122"/>
                <a:cs typeface="Calibri" pitchFamily="34" charset="-120"/>
              </a:rPr>
              <a:t>Localiser la zone rectangulaire de la plaque (contours, couleur, texture ou deep learning)</a:t>
            </a:r>
            <a:endParaRPr lang="en-US" sz="1150" dirty="0"/>
          </a:p>
        </p:txBody>
      </p:sp>
      <p:sp>
        <p:nvSpPr>
          <p:cNvPr id="9" name="Text 6"/>
          <p:cNvSpPr/>
          <p:nvPr/>
        </p:nvSpPr>
        <p:spPr>
          <a:xfrm>
            <a:off x="4069080" y="3108960"/>
            <a:ext cx="228600" cy="548640"/>
          </a:xfrm>
          <a:prstGeom prst="rect">
            <a:avLst/>
          </a:prstGeom>
          <a:noFill/>
          <a:ln/>
        </p:spPr>
        <p:txBody>
          <a:bodyPr wrap="square" rtlCol="0" anchor="ctr"/>
          <a:lstStyle/>
          <a:p>
            <a:pPr marL="0" indent="0" algn="ctr">
              <a:buNone/>
            </a:pPr>
            <a:r>
              <a:rPr lang="en-US" sz="2000" b="1" dirty="0">
                <a:solidFill>
                  <a:srgbClr val="8E7CC3"/>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4297680" y="2057400"/>
            <a:ext cx="3520440" cy="2606040"/>
          </a:xfrm>
          <a:prstGeom prst="roundRect">
            <a:avLst>
              <a:gd name="adj" fmla="val 4211"/>
            </a:avLst>
          </a:prstGeom>
          <a:solidFill>
            <a:srgbClr val="8E7CC3"/>
          </a:solidFill>
          <a:ln/>
          <a:effectLst>
            <a:outerShdw blurRad="101600" dist="38100" dir="5400000" algn="bl" rotWithShape="0">
              <a:srgbClr val="1B2340">
                <a:alpha val="18000"/>
              </a:srgbClr>
            </a:outerShdw>
          </a:effectLst>
        </p:spPr>
      </p:sp>
      <p:sp>
        <p:nvSpPr>
          <p:cNvPr id="11" name="Shape 8"/>
          <p:cNvSpPr/>
          <p:nvPr/>
        </p:nvSpPr>
        <p:spPr>
          <a:xfrm>
            <a:off x="4553712" y="233172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12" name="Image 1" descr="/home/claude/ppt/icons/layers_lavender.png"/>
          <p:cNvPicPr>
            <a:picLocks noChangeAspect="1"/>
          </p:cNvPicPr>
          <p:nvPr/>
        </p:nvPicPr>
        <p:blipFill>
          <a:blip r:embed="rId4"/>
          <a:stretch>
            <a:fillRect/>
          </a:stretch>
        </p:blipFill>
        <p:spPr>
          <a:xfrm>
            <a:off x="4718304" y="2496312"/>
            <a:ext cx="402336" cy="402336"/>
          </a:xfrm>
          <a:prstGeom prst="rect">
            <a:avLst/>
          </a:prstGeom>
        </p:spPr>
      </p:pic>
      <p:sp>
        <p:nvSpPr>
          <p:cNvPr id="13" name="Text 9"/>
          <p:cNvSpPr/>
          <p:nvPr/>
        </p:nvSpPr>
        <p:spPr>
          <a:xfrm>
            <a:off x="4553712" y="3200400"/>
            <a:ext cx="3008376" cy="50292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Segmentation</a:t>
            </a:r>
            <a:endParaRPr lang="en-US" sz="1550" dirty="0"/>
          </a:p>
        </p:txBody>
      </p:sp>
      <p:sp>
        <p:nvSpPr>
          <p:cNvPr id="14" name="Text 10"/>
          <p:cNvSpPr/>
          <p:nvPr/>
        </p:nvSpPr>
        <p:spPr>
          <a:xfrm>
            <a:off x="4553712" y="3703320"/>
            <a:ext cx="3008376" cy="914400"/>
          </a:xfrm>
          <a:prstGeom prst="rect">
            <a:avLst/>
          </a:prstGeom>
          <a:noFill/>
          <a:ln/>
        </p:spPr>
        <p:txBody>
          <a:bodyPr wrap="square" rtlCol="0" anchor="ctr"/>
          <a:lstStyle/>
          <a:p>
            <a:pPr marL="0" indent="0">
              <a:lnSpc>
                <a:spcPts val="1500"/>
              </a:lnSpc>
              <a:buNone/>
            </a:pPr>
            <a:r>
              <a:rPr lang="en-US" sz="1150" dirty="0">
                <a:solidFill>
                  <a:srgbClr val="F1EDFB"/>
                </a:solidFill>
                <a:latin typeface="Calibri" pitchFamily="34" charset="0"/>
                <a:ea typeface="Calibri" pitchFamily="34" charset="-122"/>
                <a:cs typeface="Calibri" pitchFamily="34" charset="-120"/>
              </a:rPr>
              <a:t>Isoler chaque caractère individuellement avant lecture</a:t>
            </a:r>
            <a:endParaRPr lang="en-US" sz="1150" dirty="0"/>
          </a:p>
        </p:txBody>
      </p:sp>
      <p:sp>
        <p:nvSpPr>
          <p:cNvPr id="15" name="Text 11"/>
          <p:cNvSpPr/>
          <p:nvPr/>
        </p:nvSpPr>
        <p:spPr>
          <a:xfrm>
            <a:off x="7818120" y="3108960"/>
            <a:ext cx="228600" cy="548640"/>
          </a:xfrm>
          <a:prstGeom prst="rect">
            <a:avLst/>
          </a:prstGeom>
          <a:noFill/>
          <a:ln/>
        </p:spPr>
        <p:txBody>
          <a:bodyPr wrap="square" rtlCol="0" anchor="ctr"/>
          <a:lstStyle/>
          <a:p>
            <a:pPr marL="0" indent="0" algn="ctr">
              <a:buNone/>
            </a:pPr>
            <a:r>
              <a:rPr lang="en-US" sz="2000" b="1" dirty="0">
                <a:solidFill>
                  <a:srgbClr val="8E7CC3"/>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8046720" y="2057400"/>
            <a:ext cx="3520440" cy="2606040"/>
          </a:xfrm>
          <a:prstGeom prst="roundRect">
            <a:avLst>
              <a:gd name="adj" fmla="val 4211"/>
            </a:avLst>
          </a:prstGeom>
          <a:solidFill>
            <a:srgbClr val="F1EDFB"/>
          </a:solidFill>
          <a:ln/>
          <a:effectLst>
            <a:outerShdw blurRad="101600" dist="38100" dir="5400000" algn="bl" rotWithShape="0">
              <a:srgbClr val="1B2340">
                <a:alpha val="18000"/>
              </a:srgbClr>
            </a:outerShdw>
          </a:effectLst>
        </p:spPr>
      </p:sp>
      <p:sp>
        <p:nvSpPr>
          <p:cNvPr id="17" name="Shape 13"/>
          <p:cNvSpPr/>
          <p:nvPr/>
        </p:nvSpPr>
        <p:spPr>
          <a:xfrm>
            <a:off x="8302752" y="233172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18" name="Image 2" descr="/home/claude/ppt/icons/type_lavender.png"/>
          <p:cNvPicPr>
            <a:picLocks noChangeAspect="1"/>
          </p:cNvPicPr>
          <p:nvPr/>
        </p:nvPicPr>
        <p:blipFill>
          <a:blip r:embed="rId5"/>
          <a:stretch>
            <a:fillRect/>
          </a:stretch>
        </p:blipFill>
        <p:spPr>
          <a:xfrm>
            <a:off x="8467344" y="2496312"/>
            <a:ext cx="402336" cy="402336"/>
          </a:xfrm>
          <a:prstGeom prst="rect">
            <a:avLst/>
          </a:prstGeom>
        </p:spPr>
      </p:pic>
      <p:sp>
        <p:nvSpPr>
          <p:cNvPr id="19" name="Text 14"/>
          <p:cNvSpPr/>
          <p:nvPr/>
        </p:nvSpPr>
        <p:spPr>
          <a:xfrm>
            <a:off x="8302752" y="3200400"/>
            <a:ext cx="3008376" cy="502920"/>
          </a:xfrm>
          <a:prstGeom prst="rect">
            <a:avLst/>
          </a:prstGeom>
          <a:noFill/>
          <a:ln/>
        </p:spPr>
        <p:txBody>
          <a:bodyPr wrap="square" rtlCol="0" anchor="ctr"/>
          <a:lstStyle/>
          <a:p>
            <a:pPr marL="0" indent="0">
              <a:buNone/>
            </a:pPr>
            <a:r>
              <a:rPr lang="en-US" sz="1550" b="1" dirty="0">
                <a:solidFill>
                  <a:srgbClr val="1B2340"/>
                </a:solidFill>
                <a:latin typeface="Calibri" pitchFamily="34" charset="0"/>
                <a:ea typeface="Calibri" pitchFamily="34" charset="-122"/>
                <a:cs typeface="Calibri" pitchFamily="34" charset="-120"/>
              </a:rPr>
              <a:t>Reconnaissance (OCR)</a:t>
            </a:r>
            <a:endParaRPr lang="en-US" sz="1550" dirty="0"/>
          </a:p>
        </p:txBody>
      </p:sp>
      <p:sp>
        <p:nvSpPr>
          <p:cNvPr id="20" name="Text 15"/>
          <p:cNvSpPr/>
          <p:nvPr/>
        </p:nvSpPr>
        <p:spPr>
          <a:xfrm>
            <a:off x="8302752" y="3703320"/>
            <a:ext cx="3008376" cy="914400"/>
          </a:xfrm>
          <a:prstGeom prst="rect">
            <a:avLst/>
          </a:prstGeom>
          <a:noFill/>
          <a:ln/>
        </p:spPr>
        <p:txBody>
          <a:bodyPr wrap="square" rtlCol="0" anchor="ctr"/>
          <a:lstStyle/>
          <a:p>
            <a:pPr marL="0" indent="0">
              <a:lnSpc>
                <a:spcPts val="1500"/>
              </a:lnSpc>
              <a:buNone/>
            </a:pPr>
            <a:r>
              <a:rPr lang="en-US" sz="1150" dirty="0">
                <a:solidFill>
                  <a:srgbClr val="6B6B7B"/>
                </a:solidFill>
                <a:latin typeface="Calibri" pitchFamily="34" charset="0"/>
                <a:ea typeface="Calibri" pitchFamily="34" charset="-122"/>
                <a:cs typeface="Calibri" pitchFamily="34" charset="-120"/>
              </a:rPr>
              <a:t>Convertir chaque caractère </a:t>
            </a:r>
            <a:r>
              <a:rPr lang="en-US" sz="1150" dirty="0" err="1">
                <a:solidFill>
                  <a:srgbClr val="6B6B7B"/>
                </a:solidFill>
                <a:latin typeface="Calibri" pitchFamily="34" charset="0"/>
                <a:ea typeface="Calibri" pitchFamily="34" charset="-122"/>
                <a:cs typeface="Calibri" pitchFamily="34" charset="-120"/>
              </a:rPr>
              <a:t>en</a:t>
            </a:r>
            <a:r>
              <a:rPr lang="en-US" sz="1150" dirty="0">
                <a:solidFill>
                  <a:srgbClr val="6B6B7B"/>
                </a:solidFill>
                <a:latin typeface="Calibri" pitchFamily="34" charset="0"/>
                <a:ea typeface="Calibri" pitchFamily="34" charset="-122"/>
                <a:cs typeface="Calibri" pitchFamily="34" charset="-120"/>
              </a:rPr>
              <a:t> </a:t>
            </a:r>
            <a:r>
              <a:rPr lang="en-US" sz="1150" dirty="0" err="1">
                <a:solidFill>
                  <a:srgbClr val="6B6B7B"/>
                </a:solidFill>
                <a:latin typeface="Calibri" pitchFamily="34" charset="0"/>
                <a:ea typeface="Calibri" pitchFamily="34" charset="-122"/>
                <a:cs typeface="Calibri" pitchFamily="34" charset="-120"/>
              </a:rPr>
              <a:t>texte</a:t>
            </a:r>
            <a:r>
              <a:rPr lang="en-US" sz="1150" dirty="0">
                <a:solidFill>
                  <a:srgbClr val="6B6B7B"/>
                </a:solidFill>
                <a:latin typeface="Calibri" pitchFamily="34" charset="0"/>
                <a:ea typeface="Calibri" pitchFamily="34" charset="-122"/>
                <a:cs typeface="Calibri" pitchFamily="34" charset="-120"/>
              </a:rPr>
              <a:t> EasyOCR / PaddleOCR / Tesseract</a:t>
            </a:r>
            <a:endParaRPr lang="en-US" sz="1150" dirty="0"/>
          </a:p>
        </p:txBody>
      </p:sp>
      <p:sp>
        <p:nvSpPr>
          <p:cNvPr id="21" name="Shape 16"/>
          <p:cNvSpPr/>
          <p:nvPr/>
        </p:nvSpPr>
        <p:spPr>
          <a:xfrm>
            <a:off x="548640" y="5029200"/>
            <a:ext cx="11064240" cy="1143000"/>
          </a:xfrm>
          <a:prstGeom prst="roundRect">
            <a:avLst>
              <a:gd name="adj" fmla="val 9600"/>
            </a:avLst>
          </a:prstGeom>
          <a:solidFill>
            <a:srgbClr val="1B2340"/>
          </a:solidFill>
          <a:ln/>
          <a:effectLst>
            <a:outerShdw blurRad="152400" dist="50800" dir="5400000" algn="bl" rotWithShape="0">
              <a:srgbClr val="1B2340">
                <a:alpha val="18000"/>
              </a:srgbClr>
            </a:outerShdw>
          </a:effectLst>
        </p:spPr>
      </p:sp>
      <p:sp>
        <p:nvSpPr>
          <p:cNvPr id="22" name="Text 17"/>
          <p:cNvSpPr/>
          <p:nvPr/>
        </p:nvSpPr>
        <p:spPr>
          <a:xfrm>
            <a:off x="868680" y="5029200"/>
            <a:ext cx="10424160" cy="1143000"/>
          </a:xfrm>
          <a:prstGeom prst="rect">
            <a:avLst/>
          </a:prstGeom>
          <a:noFill/>
          <a:ln/>
        </p:spPr>
        <p:txBody>
          <a:bodyPr wrap="square" rtlCol="0" anchor="ctr"/>
          <a:lstStyle/>
          <a:p>
            <a:pPr marL="0" indent="0">
              <a:buNone/>
            </a:pPr>
            <a:r>
              <a:rPr lang="en-US" sz="2600" b="1" dirty="0">
                <a:solidFill>
                  <a:srgbClr val="8E7CC3"/>
                </a:solidFill>
                <a:latin typeface="Calibri" pitchFamily="34" charset="0"/>
                <a:ea typeface="Calibri" pitchFamily="34" charset="-122"/>
                <a:cs typeface="Calibri" pitchFamily="34" charset="-120"/>
              </a:rPr>
              <a:t>90 à 99 %</a:t>
            </a:r>
            <a:r>
              <a:rPr lang="en-US" sz="1300" dirty="0">
                <a:solidFill>
                  <a:srgbClr val="FFFFFF"/>
                </a:solidFill>
                <a:latin typeface="Calibri" pitchFamily="34" charset="0"/>
                <a:ea typeface="Calibri" pitchFamily="34" charset="-122"/>
                <a:cs typeface="Calibri" pitchFamily="34" charset="-120"/>
              </a:rPr>
              <a:t>  de précision selon les conditions mais confusions fréquentes : </a:t>
            </a:r>
            <a:r>
              <a:rPr lang="en-US" sz="1300" i="1" dirty="0">
                <a:solidFill>
                  <a:srgbClr val="CADCFC"/>
                </a:solidFill>
                <a:latin typeface="Calibri" pitchFamily="34" charset="0"/>
                <a:ea typeface="Calibri" pitchFamily="34" charset="-122"/>
                <a:cs typeface="Calibri" pitchFamily="34" charset="-120"/>
              </a:rPr>
              <a:t>O/0, P/B, S/5, B/8, 1/I</a:t>
            </a:r>
            <a:endParaRPr lang="en-US" sz="2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2286000" y="3657600"/>
            <a:ext cx="6400800" cy="6400800"/>
          </a:xfrm>
          <a:prstGeom prst="ellipse">
            <a:avLst/>
          </a:prstGeom>
          <a:solidFill>
            <a:srgbClr val="222C52"/>
          </a:solidFill>
          <a:ln/>
        </p:spPr>
      </p:sp>
      <p:sp>
        <p:nvSpPr>
          <p:cNvPr id="3" name="Text 1"/>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CE QUE LA LITTÉRATURE NE COUVRE PAS</a:t>
            </a:r>
            <a:endParaRPr lang="en-US" sz="1300" dirty="0"/>
          </a:p>
        </p:txBody>
      </p:sp>
      <p:sp>
        <p:nvSpPr>
          <p:cNvPr id="4" name="Text 2"/>
          <p:cNvSpPr/>
          <p:nvPr/>
        </p:nvSpPr>
        <p:spPr>
          <a:xfrm>
            <a:off x="548640" y="777240"/>
            <a:ext cx="1078992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 vrai test n'est pas Kaggle. C'est Cotonou.</a:t>
            </a:r>
            <a:endParaRPr lang="en-US" sz="3000" dirty="0"/>
          </a:p>
        </p:txBody>
      </p:sp>
      <p:sp>
        <p:nvSpPr>
          <p:cNvPr id="5" name="Shape 3"/>
          <p:cNvSpPr/>
          <p:nvPr/>
        </p:nvSpPr>
        <p:spPr>
          <a:xfrm>
            <a:off x="914400" y="2286000"/>
            <a:ext cx="2377440" cy="2377440"/>
          </a:xfrm>
          <a:prstGeom prst="ellipse">
            <a:avLst/>
          </a:prstGeom>
          <a:solidFill>
            <a:srgbClr val="222C52"/>
          </a:solidFill>
          <a:ln/>
          <a:effectLst>
            <a:outerShdw blurRad="152400" dist="50800" dir="5400000" algn="bl" rotWithShape="0">
              <a:srgbClr val="1B2340">
                <a:alpha val="18000"/>
              </a:srgbClr>
            </a:outerShdw>
          </a:effectLst>
        </p:spPr>
      </p:sp>
      <p:pic>
        <p:nvPicPr>
          <p:cNvPr id="6" name="Image 0" descr="/home/claude/ppt/icons/bike_lavender.png"/>
          <p:cNvPicPr>
            <a:picLocks noChangeAspect="1"/>
          </p:cNvPicPr>
          <p:nvPr/>
        </p:nvPicPr>
        <p:blipFill>
          <a:blip r:embed="rId3"/>
          <a:stretch>
            <a:fillRect/>
          </a:stretch>
        </p:blipFill>
        <p:spPr>
          <a:xfrm>
            <a:off x="1508760" y="2880360"/>
            <a:ext cx="1188720" cy="1188720"/>
          </a:xfrm>
          <a:prstGeom prst="rect">
            <a:avLst/>
          </a:prstGeom>
        </p:spPr>
      </p:pic>
      <p:sp>
        <p:nvSpPr>
          <p:cNvPr id="7" name="Text 4"/>
          <p:cNvSpPr/>
          <p:nvPr/>
        </p:nvSpPr>
        <p:spPr>
          <a:xfrm>
            <a:off x="457200" y="4892040"/>
            <a:ext cx="3291840" cy="457200"/>
          </a:xfrm>
          <a:prstGeom prst="rect">
            <a:avLst/>
          </a:prstGeom>
          <a:noFill/>
          <a:ln/>
        </p:spPr>
        <p:txBody>
          <a:bodyPr wrap="square" rtlCol="0" anchor="ctr"/>
          <a:lstStyle/>
          <a:p>
            <a:pPr marL="0" indent="0" algn="ctr">
              <a:buNone/>
            </a:pPr>
            <a:r>
              <a:rPr lang="en-US" sz="1500" b="1" dirty="0">
                <a:solidFill>
                  <a:srgbClr val="8E7CC3"/>
                </a:solidFill>
                <a:latin typeface="Calibri" pitchFamily="34" charset="0"/>
                <a:ea typeface="Calibri" pitchFamily="34" charset="-122"/>
                <a:cs typeface="Calibri" pitchFamily="34" charset="-120"/>
              </a:rPr>
              <a:t>Deux-roues</a:t>
            </a:r>
            <a:endParaRPr lang="en-US" sz="1500" dirty="0"/>
          </a:p>
        </p:txBody>
      </p:sp>
      <p:sp>
        <p:nvSpPr>
          <p:cNvPr id="8" name="Shape 5"/>
          <p:cNvSpPr/>
          <p:nvPr/>
        </p:nvSpPr>
        <p:spPr>
          <a:xfrm>
            <a:off x="4160520" y="2057400"/>
            <a:ext cx="7498080" cy="1298448"/>
          </a:xfrm>
          <a:prstGeom prst="roundRect">
            <a:avLst>
              <a:gd name="adj" fmla="val 7042"/>
            </a:avLst>
          </a:prstGeom>
          <a:solidFill>
            <a:srgbClr val="222C52"/>
          </a:solidFill>
          <a:ln/>
          <a:effectLst>
            <a:outerShdw blurRad="76200" dist="25400" dir="5400000" algn="bl" rotWithShape="0">
              <a:srgbClr val="1B2340">
                <a:alpha val="18000"/>
              </a:srgbClr>
            </a:outerShdw>
          </a:effectLst>
        </p:spPr>
      </p:sp>
      <p:sp>
        <p:nvSpPr>
          <p:cNvPr id="9" name="Text 6"/>
          <p:cNvSpPr/>
          <p:nvPr/>
        </p:nvSpPr>
        <p:spPr>
          <a:xfrm>
            <a:off x="4434840" y="2167128"/>
            <a:ext cx="694944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Angle mort des jeux de données</a:t>
            </a:r>
            <a:endParaRPr lang="en-US" sz="1450" dirty="0"/>
          </a:p>
        </p:txBody>
      </p:sp>
      <p:sp>
        <p:nvSpPr>
          <p:cNvPr id="10" name="Text 7"/>
          <p:cNvSpPr/>
          <p:nvPr/>
        </p:nvSpPr>
        <p:spPr>
          <a:xfrm>
            <a:off x="4434840" y="2560320"/>
            <a:ext cx="6949440" cy="731520"/>
          </a:xfrm>
          <a:prstGeom prst="rect">
            <a:avLst/>
          </a:prstGeom>
          <a:noFill/>
          <a:ln/>
        </p:spPr>
        <p:txBody>
          <a:bodyPr wrap="square" rtlCol="0" anchor="ctr"/>
          <a:lstStyle/>
          <a:p>
            <a:pPr marL="0" indent="0">
              <a:lnSpc>
                <a:spcPts val="1500"/>
              </a:lnSpc>
              <a:buNone/>
            </a:pPr>
            <a:r>
              <a:rPr lang="en-US" sz="1200" dirty="0">
                <a:solidFill>
                  <a:srgbClr val="CADCFC"/>
                </a:solidFill>
                <a:latin typeface="Calibri" pitchFamily="34" charset="0"/>
                <a:ea typeface="Calibri" pitchFamily="34" charset="-122"/>
                <a:cs typeface="Calibri" pitchFamily="34" charset="-120"/>
              </a:rPr>
              <a:t>Aucun jeu Kaggle ne couvre les plaques béninoises ni la densité de motos de Cotonou.</a:t>
            </a:r>
            <a:endParaRPr lang="en-US" sz="1200" dirty="0"/>
          </a:p>
        </p:txBody>
      </p:sp>
      <p:sp>
        <p:nvSpPr>
          <p:cNvPr id="11" name="Shape 8"/>
          <p:cNvSpPr/>
          <p:nvPr/>
        </p:nvSpPr>
        <p:spPr>
          <a:xfrm>
            <a:off x="4160520" y="3538728"/>
            <a:ext cx="7498080" cy="1298448"/>
          </a:xfrm>
          <a:prstGeom prst="roundRect">
            <a:avLst>
              <a:gd name="adj" fmla="val 7042"/>
            </a:avLst>
          </a:prstGeom>
          <a:solidFill>
            <a:srgbClr val="222C52"/>
          </a:solidFill>
          <a:ln/>
          <a:effectLst>
            <a:outerShdw blurRad="76200" dist="25400" dir="5400000" algn="bl" rotWithShape="0">
              <a:srgbClr val="1B2340">
                <a:alpha val="18000"/>
              </a:srgbClr>
            </a:outerShdw>
          </a:effectLst>
        </p:spPr>
      </p:sp>
      <p:sp>
        <p:nvSpPr>
          <p:cNvPr id="12" name="Text 9"/>
          <p:cNvSpPr/>
          <p:nvPr/>
        </p:nvSpPr>
        <p:spPr>
          <a:xfrm>
            <a:off x="4434840" y="3648456"/>
            <a:ext cx="694944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Conditions environnementales</a:t>
            </a:r>
            <a:endParaRPr lang="en-US" sz="1450" dirty="0"/>
          </a:p>
        </p:txBody>
      </p:sp>
      <p:sp>
        <p:nvSpPr>
          <p:cNvPr id="13" name="Text 10"/>
          <p:cNvSpPr/>
          <p:nvPr/>
        </p:nvSpPr>
        <p:spPr>
          <a:xfrm>
            <a:off x="4434840" y="4041648"/>
            <a:ext cx="6949440" cy="731520"/>
          </a:xfrm>
          <a:prstGeom prst="rect">
            <a:avLst/>
          </a:prstGeom>
          <a:noFill/>
          <a:ln/>
        </p:spPr>
        <p:txBody>
          <a:bodyPr wrap="square" rtlCol="0" anchor="ctr"/>
          <a:lstStyle/>
          <a:p>
            <a:pPr marL="0" indent="0">
              <a:lnSpc>
                <a:spcPts val="1500"/>
              </a:lnSpc>
              <a:buNone/>
            </a:pPr>
            <a:r>
              <a:rPr lang="en-US" sz="1200" dirty="0">
                <a:solidFill>
                  <a:srgbClr val="CADCFC"/>
                </a:solidFill>
                <a:latin typeface="Calibri" pitchFamily="34" charset="0"/>
                <a:ea typeface="Calibri" pitchFamily="34" charset="-122"/>
                <a:cs typeface="Calibri" pitchFamily="34" charset="-120"/>
              </a:rPr>
              <a:t>Poussière d'harmattan, forte luminosité, saison des </a:t>
            </a:r>
            <a:r>
              <a:rPr lang="en-US" sz="1200" dirty="0" err="1">
                <a:solidFill>
                  <a:srgbClr val="CADCFC"/>
                </a:solidFill>
                <a:latin typeface="Calibri" pitchFamily="34" charset="0"/>
                <a:ea typeface="Calibri" pitchFamily="34" charset="-122"/>
                <a:cs typeface="Calibri" pitchFamily="34" charset="-120"/>
              </a:rPr>
              <a:t>pluies</a:t>
            </a:r>
            <a:r>
              <a:rPr lang="en-US" sz="1200" dirty="0">
                <a:solidFill>
                  <a:srgbClr val="CADCFC"/>
                </a:solidFill>
                <a:latin typeface="Calibri" pitchFamily="34" charset="0"/>
                <a:ea typeface="Calibri" pitchFamily="34" charset="-122"/>
                <a:cs typeface="Calibri" pitchFamily="34" charset="-120"/>
              </a:rPr>
              <a:t> non testées dans la littérature internationale.</a:t>
            </a:r>
            <a:endParaRPr lang="en-US" sz="1200" dirty="0"/>
          </a:p>
        </p:txBody>
      </p:sp>
      <p:sp>
        <p:nvSpPr>
          <p:cNvPr id="14" name="Shape 11"/>
          <p:cNvSpPr/>
          <p:nvPr/>
        </p:nvSpPr>
        <p:spPr>
          <a:xfrm>
            <a:off x="4160520" y="5020056"/>
            <a:ext cx="7498080" cy="1298448"/>
          </a:xfrm>
          <a:prstGeom prst="roundRect">
            <a:avLst>
              <a:gd name="adj" fmla="val 7042"/>
            </a:avLst>
          </a:prstGeom>
          <a:solidFill>
            <a:srgbClr val="8E7CC3"/>
          </a:solidFill>
          <a:ln/>
          <a:effectLst>
            <a:outerShdw blurRad="76200" dist="25400" dir="5400000" algn="bl" rotWithShape="0">
              <a:srgbClr val="1B2340">
                <a:alpha val="18000"/>
              </a:srgbClr>
            </a:outerShdw>
          </a:effectLst>
        </p:spPr>
      </p:sp>
      <p:sp>
        <p:nvSpPr>
          <p:cNvPr id="15" name="Text 12"/>
          <p:cNvSpPr/>
          <p:nvPr/>
        </p:nvSpPr>
        <p:spPr>
          <a:xfrm>
            <a:off x="4434840" y="5129784"/>
            <a:ext cx="6949440" cy="365760"/>
          </a:xfrm>
          <a:prstGeom prst="rect">
            <a:avLst/>
          </a:prstGeom>
          <a:noFill/>
          <a:ln/>
        </p:spPr>
        <p:txBody>
          <a:bodyPr wrap="square" rtlCol="0" anchor="ctr"/>
          <a:lstStyle/>
          <a:p>
            <a:pPr marL="0" indent="0">
              <a:buNone/>
            </a:pPr>
            <a:r>
              <a:rPr lang="en-US" sz="1450" b="1" dirty="0">
                <a:solidFill>
                  <a:srgbClr val="1B2340"/>
                </a:solidFill>
                <a:latin typeface="Calibri" pitchFamily="34" charset="0"/>
                <a:ea typeface="Calibri" pitchFamily="34" charset="-122"/>
                <a:cs typeface="Calibri" pitchFamily="34" charset="-120"/>
              </a:rPr>
              <a:t>Notre réponse</a:t>
            </a:r>
            <a:endParaRPr lang="en-US" sz="1450" dirty="0"/>
          </a:p>
        </p:txBody>
      </p:sp>
      <p:sp>
        <p:nvSpPr>
          <p:cNvPr id="16" name="Text 13"/>
          <p:cNvSpPr/>
          <p:nvPr/>
        </p:nvSpPr>
        <p:spPr>
          <a:xfrm>
            <a:off x="4434840" y="5522976"/>
            <a:ext cx="6949440" cy="731520"/>
          </a:xfrm>
          <a:prstGeom prst="rect">
            <a:avLst/>
          </a:prstGeom>
          <a:noFill/>
          <a:ln/>
        </p:spPr>
        <p:txBody>
          <a:bodyPr wrap="square" rtlCol="0" anchor="ctr"/>
          <a:lstStyle/>
          <a:p>
            <a:pPr marL="0" indent="0">
              <a:lnSpc>
                <a:spcPts val="1500"/>
              </a:lnSpc>
              <a:buNone/>
            </a:pPr>
            <a:r>
              <a:rPr lang="en-US" sz="1200" dirty="0">
                <a:solidFill>
                  <a:srgbClr val="222C52"/>
                </a:solidFill>
                <a:latin typeface="Calibri" pitchFamily="34" charset="0"/>
                <a:ea typeface="Calibri" pitchFamily="34" charset="-122"/>
                <a:cs typeface="Calibri" pitchFamily="34" charset="-120"/>
              </a:rPr>
              <a:t>Valider la chaîne sur données publiques, puis collecter quelques centaines d'images locales pour le fine-tuning final.</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65760"/>
          </a:xfrm>
          <a:prstGeom prst="rect">
            <a:avLst/>
          </a:prstGeom>
          <a:noFill/>
          <a:ln/>
        </p:spPr>
        <p:txBody>
          <a:bodyPr wrap="square" rtlCol="0" anchor="ctr"/>
          <a:lstStyle/>
          <a:p>
            <a:pPr marL="0" indent="0">
              <a:buNone/>
            </a:pPr>
            <a:r>
              <a:rPr lang="en-US" sz="1300" b="1" kern="0" spc="300" dirty="0">
                <a:solidFill>
                  <a:srgbClr val="8E7CC3"/>
                </a:solidFill>
                <a:latin typeface="Calibri" pitchFamily="34" charset="0"/>
                <a:ea typeface="Calibri" pitchFamily="34" charset="-122"/>
                <a:cs typeface="Calibri" pitchFamily="34" charset="-120"/>
              </a:rPr>
              <a:t>NOTRE DÉMARCHE DE VALIDATION</a:t>
            </a:r>
            <a:endParaRPr lang="en-US" sz="1300" dirty="0"/>
          </a:p>
        </p:txBody>
      </p:sp>
      <p:sp>
        <p:nvSpPr>
          <p:cNvPr id="3" name="Text 1"/>
          <p:cNvSpPr/>
          <p:nvPr/>
        </p:nvSpPr>
        <p:spPr>
          <a:xfrm>
            <a:off x="548640" y="777240"/>
            <a:ext cx="10515600" cy="822960"/>
          </a:xfrm>
          <a:prstGeom prst="rect">
            <a:avLst/>
          </a:prstGeom>
          <a:noFill/>
          <a:ln/>
        </p:spPr>
        <p:txBody>
          <a:bodyPr wrap="square" rtlCol="0" anchor="ctr"/>
          <a:lstStyle/>
          <a:p>
            <a:pPr marL="0" indent="0">
              <a:buNone/>
            </a:pPr>
            <a:r>
              <a:rPr lang="en-US" sz="3200" b="1" dirty="0">
                <a:solidFill>
                  <a:srgbClr val="1B2340"/>
                </a:solidFill>
                <a:latin typeface="Cambria" pitchFamily="34" charset="0"/>
                <a:ea typeface="Cambria" pitchFamily="34" charset="-122"/>
                <a:cs typeface="Cambria" pitchFamily="34" charset="-120"/>
              </a:rPr>
              <a:t>Mesurer avant de promettre</a:t>
            </a:r>
            <a:endParaRPr lang="en-US" sz="3200" dirty="0"/>
          </a:p>
        </p:txBody>
      </p:sp>
      <p:sp>
        <p:nvSpPr>
          <p:cNvPr id="4" name="Shape 2"/>
          <p:cNvSpPr/>
          <p:nvPr/>
        </p:nvSpPr>
        <p:spPr>
          <a:xfrm>
            <a:off x="548640" y="2148840"/>
            <a:ext cx="2606040" cy="1965960"/>
          </a:xfrm>
          <a:prstGeom prst="roundRect">
            <a:avLst>
              <a:gd name="adj" fmla="val 5581"/>
            </a:avLst>
          </a:prstGeom>
          <a:solidFill>
            <a:srgbClr val="F1EDFB"/>
          </a:solidFill>
          <a:ln/>
          <a:effectLst>
            <a:outerShdw blurRad="101600" dist="38100" dir="5400000" algn="bl" rotWithShape="0">
              <a:srgbClr val="1B2340">
                <a:alpha val="18000"/>
              </a:srgbClr>
            </a:outerShdw>
          </a:effectLst>
        </p:spPr>
      </p:sp>
      <p:sp>
        <p:nvSpPr>
          <p:cNvPr id="5" name="Shape 3"/>
          <p:cNvSpPr/>
          <p:nvPr/>
        </p:nvSpPr>
        <p:spPr>
          <a:xfrm>
            <a:off x="1485900" y="237744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6" name="Image 0" descr="/home/claude/ppt/icons/gauge_lavender.png"/>
          <p:cNvPicPr>
            <a:picLocks noChangeAspect="1"/>
          </p:cNvPicPr>
          <p:nvPr/>
        </p:nvPicPr>
        <p:blipFill>
          <a:blip r:embed="rId3"/>
          <a:stretch>
            <a:fillRect/>
          </a:stretch>
        </p:blipFill>
        <p:spPr>
          <a:xfrm>
            <a:off x="1646834" y="2538374"/>
            <a:ext cx="409651" cy="409651"/>
          </a:xfrm>
          <a:prstGeom prst="rect">
            <a:avLst/>
          </a:prstGeom>
        </p:spPr>
      </p:pic>
      <p:sp>
        <p:nvSpPr>
          <p:cNvPr id="7" name="Text 4"/>
          <p:cNvSpPr/>
          <p:nvPr/>
        </p:nvSpPr>
        <p:spPr>
          <a:xfrm>
            <a:off x="658368" y="3200400"/>
            <a:ext cx="2386584" cy="36576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mAP@0.5</a:t>
            </a:r>
            <a:endParaRPr lang="en-US" sz="1450" dirty="0"/>
          </a:p>
        </p:txBody>
      </p:sp>
      <p:sp>
        <p:nvSpPr>
          <p:cNvPr id="8" name="Text 5"/>
          <p:cNvSpPr/>
          <p:nvPr/>
        </p:nvSpPr>
        <p:spPr>
          <a:xfrm>
            <a:off x="685800" y="3566160"/>
            <a:ext cx="2331720" cy="502920"/>
          </a:xfrm>
          <a:prstGeom prst="rect">
            <a:avLst/>
          </a:prstGeom>
          <a:noFill/>
          <a:ln/>
        </p:spPr>
        <p:txBody>
          <a:bodyPr wrap="square" rtlCol="0" anchor="ctr"/>
          <a:lstStyle/>
          <a:p>
            <a:pPr marL="0" indent="0" algn="ctr">
              <a:lnSpc>
                <a:spcPts val="1300"/>
              </a:lnSpc>
              <a:buNone/>
            </a:pPr>
            <a:r>
              <a:rPr lang="en-US" sz="1050" dirty="0">
                <a:solidFill>
                  <a:srgbClr val="6B6B7B"/>
                </a:solidFill>
                <a:latin typeface="Calibri" pitchFamily="34" charset="0"/>
                <a:ea typeface="Calibri" pitchFamily="34" charset="-122"/>
                <a:cs typeface="Calibri" pitchFamily="34" charset="-120"/>
              </a:rPr>
              <a:t>Précision de détection véhicule et plaque</a:t>
            </a:r>
            <a:endParaRPr lang="en-US" sz="1050" dirty="0"/>
          </a:p>
        </p:txBody>
      </p:sp>
      <p:sp>
        <p:nvSpPr>
          <p:cNvPr id="9" name="Shape 6"/>
          <p:cNvSpPr/>
          <p:nvPr/>
        </p:nvSpPr>
        <p:spPr>
          <a:xfrm>
            <a:off x="3337560" y="2148840"/>
            <a:ext cx="2606040" cy="1965960"/>
          </a:xfrm>
          <a:prstGeom prst="roundRect">
            <a:avLst>
              <a:gd name="adj" fmla="val 5581"/>
            </a:avLst>
          </a:prstGeom>
          <a:solidFill>
            <a:srgbClr val="F1EDFB"/>
          </a:solidFill>
          <a:ln/>
          <a:effectLst>
            <a:outerShdw blurRad="101600" dist="38100" dir="5400000" algn="bl" rotWithShape="0">
              <a:srgbClr val="1B2340">
                <a:alpha val="18000"/>
              </a:srgbClr>
            </a:outerShdw>
          </a:effectLst>
        </p:spPr>
      </p:sp>
      <p:sp>
        <p:nvSpPr>
          <p:cNvPr id="10" name="Shape 7"/>
          <p:cNvSpPr/>
          <p:nvPr/>
        </p:nvSpPr>
        <p:spPr>
          <a:xfrm>
            <a:off x="4274820" y="237744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11" name="Image 1" descr="/home/claude/ppt/icons/type_lavender.png"/>
          <p:cNvPicPr>
            <a:picLocks noChangeAspect="1"/>
          </p:cNvPicPr>
          <p:nvPr/>
        </p:nvPicPr>
        <p:blipFill>
          <a:blip r:embed="rId4"/>
          <a:stretch>
            <a:fillRect/>
          </a:stretch>
        </p:blipFill>
        <p:spPr>
          <a:xfrm>
            <a:off x="4435754" y="2538374"/>
            <a:ext cx="409651" cy="409651"/>
          </a:xfrm>
          <a:prstGeom prst="rect">
            <a:avLst/>
          </a:prstGeom>
        </p:spPr>
      </p:pic>
      <p:sp>
        <p:nvSpPr>
          <p:cNvPr id="12" name="Text 8"/>
          <p:cNvSpPr/>
          <p:nvPr/>
        </p:nvSpPr>
        <p:spPr>
          <a:xfrm>
            <a:off x="3447288" y="3200400"/>
            <a:ext cx="2386584" cy="36576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Plate Accuracy</a:t>
            </a:r>
            <a:endParaRPr lang="en-US" sz="1450" dirty="0"/>
          </a:p>
        </p:txBody>
      </p:sp>
      <p:sp>
        <p:nvSpPr>
          <p:cNvPr id="13" name="Text 9"/>
          <p:cNvSpPr/>
          <p:nvPr/>
        </p:nvSpPr>
        <p:spPr>
          <a:xfrm>
            <a:off x="3474720" y="3566160"/>
            <a:ext cx="2331720" cy="502920"/>
          </a:xfrm>
          <a:prstGeom prst="rect">
            <a:avLst/>
          </a:prstGeom>
          <a:noFill/>
          <a:ln/>
        </p:spPr>
        <p:txBody>
          <a:bodyPr wrap="square" rtlCol="0" anchor="ctr"/>
          <a:lstStyle/>
          <a:p>
            <a:pPr marL="0" indent="0" algn="ctr">
              <a:lnSpc>
                <a:spcPts val="1300"/>
              </a:lnSpc>
              <a:buNone/>
            </a:pPr>
            <a:r>
              <a:rPr lang="en-US" sz="1050" dirty="0">
                <a:solidFill>
                  <a:srgbClr val="6B6B7B"/>
                </a:solidFill>
                <a:latin typeface="Calibri" pitchFamily="34" charset="0"/>
                <a:ea typeface="Calibri" pitchFamily="34" charset="-122"/>
                <a:cs typeface="Calibri" pitchFamily="34" charset="-120"/>
              </a:rPr>
              <a:t>Taux de lecture correcte + taux d'erreur caractère (CER)</a:t>
            </a:r>
            <a:endParaRPr lang="en-US" sz="1050" dirty="0"/>
          </a:p>
        </p:txBody>
      </p:sp>
      <p:sp>
        <p:nvSpPr>
          <p:cNvPr id="14" name="Shape 10"/>
          <p:cNvSpPr/>
          <p:nvPr/>
        </p:nvSpPr>
        <p:spPr>
          <a:xfrm>
            <a:off x="6126480" y="2148840"/>
            <a:ext cx="2606040" cy="1965960"/>
          </a:xfrm>
          <a:prstGeom prst="roundRect">
            <a:avLst>
              <a:gd name="adj" fmla="val 5581"/>
            </a:avLst>
          </a:prstGeom>
          <a:solidFill>
            <a:srgbClr val="F1EDFB"/>
          </a:solidFill>
          <a:ln/>
          <a:effectLst>
            <a:outerShdw blurRad="101600" dist="38100" dir="5400000" algn="bl" rotWithShape="0">
              <a:srgbClr val="1B2340">
                <a:alpha val="18000"/>
              </a:srgbClr>
            </a:outerShdw>
          </a:effectLst>
        </p:spPr>
      </p:sp>
      <p:sp>
        <p:nvSpPr>
          <p:cNvPr id="15" name="Shape 11"/>
          <p:cNvSpPr/>
          <p:nvPr/>
        </p:nvSpPr>
        <p:spPr>
          <a:xfrm>
            <a:off x="7063740" y="237744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16" name="Image 2" descr="/home/claude/ppt/icons/clock_lavender.png"/>
          <p:cNvPicPr>
            <a:picLocks noChangeAspect="1"/>
          </p:cNvPicPr>
          <p:nvPr/>
        </p:nvPicPr>
        <p:blipFill>
          <a:blip r:embed="rId5"/>
          <a:stretch>
            <a:fillRect/>
          </a:stretch>
        </p:blipFill>
        <p:spPr>
          <a:xfrm>
            <a:off x="7224674" y="2538374"/>
            <a:ext cx="409651" cy="409651"/>
          </a:xfrm>
          <a:prstGeom prst="rect">
            <a:avLst/>
          </a:prstGeom>
        </p:spPr>
      </p:pic>
      <p:sp>
        <p:nvSpPr>
          <p:cNvPr id="17" name="Text 12"/>
          <p:cNvSpPr/>
          <p:nvPr/>
        </p:nvSpPr>
        <p:spPr>
          <a:xfrm>
            <a:off x="6236208" y="3200400"/>
            <a:ext cx="2386584" cy="36576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Débit (FPS)</a:t>
            </a:r>
            <a:endParaRPr lang="en-US" sz="1450" dirty="0"/>
          </a:p>
        </p:txBody>
      </p:sp>
      <p:sp>
        <p:nvSpPr>
          <p:cNvPr id="18" name="Text 13"/>
          <p:cNvSpPr/>
          <p:nvPr/>
        </p:nvSpPr>
        <p:spPr>
          <a:xfrm>
            <a:off x="6263640" y="3566160"/>
            <a:ext cx="2331720" cy="502920"/>
          </a:xfrm>
          <a:prstGeom prst="rect">
            <a:avLst/>
          </a:prstGeom>
          <a:noFill/>
          <a:ln/>
        </p:spPr>
        <p:txBody>
          <a:bodyPr wrap="square" rtlCol="0" anchor="ctr"/>
          <a:lstStyle/>
          <a:p>
            <a:pPr marL="0" indent="0" algn="ctr">
              <a:lnSpc>
                <a:spcPts val="1300"/>
              </a:lnSpc>
              <a:buNone/>
            </a:pPr>
            <a:r>
              <a:rPr lang="en-US" sz="1050" dirty="0">
                <a:solidFill>
                  <a:srgbClr val="6B6B7B"/>
                </a:solidFill>
                <a:latin typeface="Calibri" pitchFamily="34" charset="0"/>
                <a:ea typeface="Calibri" pitchFamily="34" charset="-122"/>
                <a:cs typeface="Calibri" pitchFamily="34" charset="-120"/>
              </a:rPr>
              <a:t>Images par </a:t>
            </a:r>
            <a:r>
              <a:rPr lang="en-US" sz="1050" dirty="0" err="1">
                <a:solidFill>
                  <a:srgbClr val="6B6B7B"/>
                </a:solidFill>
                <a:latin typeface="Calibri" pitchFamily="34" charset="0"/>
                <a:ea typeface="Calibri" pitchFamily="34" charset="-122"/>
                <a:cs typeface="Calibri" pitchFamily="34" charset="-120"/>
              </a:rPr>
              <a:t>seconde</a:t>
            </a:r>
            <a:r>
              <a:rPr lang="en-US" sz="1050" dirty="0">
                <a:solidFill>
                  <a:srgbClr val="6B6B7B"/>
                </a:solidFill>
                <a:latin typeface="Calibri" pitchFamily="34" charset="0"/>
                <a:ea typeface="Calibri" pitchFamily="34" charset="-122"/>
                <a:cs typeface="Calibri" pitchFamily="34" charset="-120"/>
              </a:rPr>
              <a:t> temps réel ou non</a:t>
            </a:r>
            <a:endParaRPr lang="en-US" sz="1050" dirty="0"/>
          </a:p>
        </p:txBody>
      </p:sp>
      <p:sp>
        <p:nvSpPr>
          <p:cNvPr id="19" name="Shape 14"/>
          <p:cNvSpPr/>
          <p:nvPr/>
        </p:nvSpPr>
        <p:spPr>
          <a:xfrm>
            <a:off x="8915400" y="2148840"/>
            <a:ext cx="2606040" cy="1965960"/>
          </a:xfrm>
          <a:prstGeom prst="roundRect">
            <a:avLst>
              <a:gd name="adj" fmla="val 5581"/>
            </a:avLst>
          </a:prstGeom>
          <a:solidFill>
            <a:srgbClr val="F1EDFB"/>
          </a:solidFill>
          <a:ln/>
          <a:effectLst>
            <a:outerShdw blurRad="101600" dist="38100" dir="5400000" algn="bl" rotWithShape="0">
              <a:srgbClr val="1B2340">
                <a:alpha val="18000"/>
              </a:srgbClr>
            </a:outerShdw>
          </a:effectLst>
        </p:spPr>
      </p:sp>
      <p:sp>
        <p:nvSpPr>
          <p:cNvPr id="20" name="Shape 15"/>
          <p:cNvSpPr/>
          <p:nvPr/>
        </p:nvSpPr>
        <p:spPr>
          <a:xfrm>
            <a:off x="9852660" y="2377440"/>
            <a:ext cx="731520" cy="731520"/>
          </a:xfrm>
          <a:prstGeom prst="ellipse">
            <a:avLst/>
          </a:prstGeom>
          <a:solidFill>
            <a:srgbClr val="1B2340"/>
          </a:solidFill>
          <a:ln/>
          <a:effectLst>
            <a:outerShdw blurRad="152400" dist="50800" dir="5400000" algn="bl" rotWithShape="0">
              <a:srgbClr val="1B2340">
                <a:alpha val="18000"/>
              </a:srgbClr>
            </a:outerShdw>
          </a:effectLst>
        </p:spPr>
      </p:sp>
      <p:pic>
        <p:nvPicPr>
          <p:cNvPr id="21" name="Image 3" descr="/home/claude/ppt/icons/alert_lavender.png"/>
          <p:cNvPicPr>
            <a:picLocks noChangeAspect="1"/>
          </p:cNvPicPr>
          <p:nvPr/>
        </p:nvPicPr>
        <p:blipFill>
          <a:blip r:embed="rId6"/>
          <a:stretch>
            <a:fillRect/>
          </a:stretch>
        </p:blipFill>
        <p:spPr>
          <a:xfrm>
            <a:off x="10013594" y="2538374"/>
            <a:ext cx="409651" cy="409651"/>
          </a:xfrm>
          <a:prstGeom prst="rect">
            <a:avLst/>
          </a:prstGeom>
        </p:spPr>
      </p:pic>
      <p:sp>
        <p:nvSpPr>
          <p:cNvPr id="22" name="Text 16"/>
          <p:cNvSpPr/>
          <p:nvPr/>
        </p:nvSpPr>
        <p:spPr>
          <a:xfrm>
            <a:off x="9025128" y="3200400"/>
            <a:ext cx="2386584" cy="365760"/>
          </a:xfrm>
          <a:prstGeom prst="rect">
            <a:avLst/>
          </a:prstGeom>
          <a:noFill/>
          <a:ln/>
        </p:spPr>
        <p:txBody>
          <a:bodyPr wrap="square" rtlCol="0" anchor="ctr"/>
          <a:lstStyle/>
          <a:p>
            <a:pPr marL="0" indent="0" algn="ctr">
              <a:buNone/>
            </a:pPr>
            <a:r>
              <a:rPr lang="en-US" sz="1450" b="1" dirty="0">
                <a:solidFill>
                  <a:srgbClr val="1B2340"/>
                </a:solidFill>
                <a:latin typeface="Calibri" pitchFamily="34" charset="0"/>
                <a:ea typeface="Calibri" pitchFamily="34" charset="-122"/>
                <a:cs typeface="Calibri" pitchFamily="34" charset="-120"/>
              </a:rPr>
              <a:t>Faux positifs</a:t>
            </a:r>
            <a:endParaRPr lang="en-US" sz="1450" dirty="0"/>
          </a:p>
        </p:txBody>
      </p:sp>
      <p:sp>
        <p:nvSpPr>
          <p:cNvPr id="23" name="Text 17"/>
          <p:cNvSpPr/>
          <p:nvPr/>
        </p:nvSpPr>
        <p:spPr>
          <a:xfrm>
            <a:off x="9052560" y="3566160"/>
            <a:ext cx="2331720" cy="502920"/>
          </a:xfrm>
          <a:prstGeom prst="rect">
            <a:avLst/>
          </a:prstGeom>
          <a:noFill/>
          <a:ln/>
        </p:spPr>
        <p:txBody>
          <a:bodyPr wrap="square" rtlCol="0" anchor="ctr"/>
          <a:lstStyle/>
          <a:p>
            <a:pPr marL="0" indent="0" algn="ctr">
              <a:lnSpc>
                <a:spcPts val="1300"/>
              </a:lnSpc>
              <a:buNone/>
            </a:pPr>
            <a:r>
              <a:rPr lang="en-US" sz="1050" dirty="0">
                <a:solidFill>
                  <a:srgbClr val="6B6B7B"/>
                </a:solidFill>
                <a:latin typeface="Calibri" pitchFamily="34" charset="0"/>
                <a:ea typeface="Calibri" pitchFamily="34" charset="-122"/>
                <a:cs typeface="Calibri" pitchFamily="34" charset="-120"/>
              </a:rPr>
              <a:t>Taux d'infractions mal qualifiées sur séquences de test</a:t>
            </a:r>
            <a:endParaRPr lang="en-US" sz="1050" dirty="0"/>
          </a:p>
        </p:txBody>
      </p:sp>
      <p:sp>
        <p:nvSpPr>
          <p:cNvPr id="24" name="Shape 18"/>
          <p:cNvSpPr/>
          <p:nvPr/>
        </p:nvSpPr>
        <p:spPr>
          <a:xfrm>
            <a:off x="548640" y="4434840"/>
            <a:ext cx="11064240" cy="1691640"/>
          </a:xfrm>
          <a:prstGeom prst="roundRect">
            <a:avLst>
              <a:gd name="adj" fmla="val 6486"/>
            </a:avLst>
          </a:prstGeom>
          <a:solidFill>
            <a:srgbClr val="1B2340"/>
          </a:solidFill>
          <a:ln/>
          <a:effectLst>
            <a:outerShdw blurRad="152400" dist="50800" dir="5400000" algn="bl" rotWithShape="0">
              <a:srgbClr val="1B2340">
                <a:alpha val="18000"/>
              </a:srgbClr>
            </a:outerShdw>
          </a:effectLst>
        </p:spPr>
      </p:sp>
      <p:sp>
        <p:nvSpPr>
          <p:cNvPr id="25" name="Shape 19"/>
          <p:cNvSpPr/>
          <p:nvPr/>
        </p:nvSpPr>
        <p:spPr>
          <a:xfrm>
            <a:off x="914400" y="4709160"/>
            <a:ext cx="1051560" cy="1051560"/>
          </a:xfrm>
          <a:prstGeom prst="ellipse">
            <a:avLst/>
          </a:prstGeom>
          <a:solidFill>
            <a:srgbClr val="8E7CC3"/>
          </a:solidFill>
          <a:ln/>
          <a:effectLst>
            <a:outerShdw blurRad="152400" dist="50800" dir="5400000" algn="bl" rotWithShape="0">
              <a:srgbClr val="1B2340">
                <a:alpha val="18000"/>
              </a:srgbClr>
            </a:outerShdw>
          </a:effectLst>
        </p:spPr>
      </p:sp>
      <p:pic>
        <p:nvPicPr>
          <p:cNvPr id="26" name="Image 4" descr="/home/claude/ppt/icons/check_navy.png"/>
          <p:cNvPicPr>
            <a:picLocks noChangeAspect="1"/>
          </p:cNvPicPr>
          <p:nvPr/>
        </p:nvPicPr>
        <p:blipFill>
          <a:blip r:embed="rId7"/>
          <a:stretch>
            <a:fillRect/>
          </a:stretch>
        </p:blipFill>
        <p:spPr>
          <a:xfrm>
            <a:off x="1145743" y="4940503"/>
            <a:ext cx="588874" cy="588874"/>
          </a:xfrm>
          <a:prstGeom prst="rect">
            <a:avLst/>
          </a:prstGeom>
        </p:spPr>
      </p:pic>
      <p:sp>
        <p:nvSpPr>
          <p:cNvPr id="27" name="Text 20"/>
          <p:cNvSpPr/>
          <p:nvPr/>
        </p:nvSpPr>
        <p:spPr>
          <a:xfrm>
            <a:off x="2240280" y="4709160"/>
            <a:ext cx="9052560" cy="1188720"/>
          </a:xfrm>
          <a:prstGeom prst="rect">
            <a:avLst/>
          </a:prstGeom>
          <a:noFill/>
          <a:ln/>
        </p:spPr>
        <p:txBody>
          <a:bodyPr wrap="square" rtlCol="0" anchor="ctr"/>
          <a:lstStyle/>
          <a:p>
            <a:pPr marL="0" indent="0">
              <a:lnSpc>
                <a:spcPts val="1800"/>
              </a:lnSpc>
              <a:buNone/>
            </a:pPr>
            <a:r>
              <a:rPr lang="en-US" sz="1500" b="1" dirty="0">
                <a:solidFill>
                  <a:srgbClr val="8E7CC3"/>
                </a:solidFill>
                <a:latin typeface="Calibri" pitchFamily="34" charset="0"/>
                <a:ea typeface="Calibri" pitchFamily="34" charset="-122"/>
                <a:cs typeface="Calibri" pitchFamily="34" charset="-120"/>
              </a:rPr>
              <a:t>Livrables du POC : </a:t>
            </a:r>
            <a:r>
              <a:rPr lang="en-US" sz="1300" dirty="0">
                <a:solidFill>
                  <a:srgbClr val="FFFFFF"/>
                </a:solidFill>
                <a:latin typeface="Calibri" pitchFamily="34" charset="0"/>
                <a:ea typeface="Calibri" pitchFamily="34" charset="-122"/>
                <a:cs typeface="Calibri" pitchFamily="34" charset="-120"/>
              </a:rPr>
              <a:t>pipeline Python versionné · démonstration sur 3 à 5 séquences vidéo · rapport de performance · note de transposition juridique et technique au contexte béninois (APDP)</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8046720" y="-2560320"/>
            <a:ext cx="6400800" cy="6400800"/>
          </a:xfrm>
          <a:prstGeom prst="ellipse">
            <a:avLst/>
          </a:prstGeom>
          <a:solidFill>
            <a:srgbClr val="222C52"/>
          </a:solidFill>
          <a:ln/>
        </p:spPr>
      </p:sp>
      <p:sp>
        <p:nvSpPr>
          <p:cNvPr id="3" name="Shape 1"/>
          <p:cNvSpPr/>
          <p:nvPr/>
        </p:nvSpPr>
        <p:spPr>
          <a:xfrm>
            <a:off x="822960" y="1188720"/>
            <a:ext cx="1005840" cy="1005840"/>
          </a:xfrm>
          <a:prstGeom prst="ellipse">
            <a:avLst/>
          </a:prstGeom>
          <a:solidFill>
            <a:srgbClr val="8E7CC3"/>
          </a:solidFill>
          <a:ln/>
          <a:effectLst>
            <a:outerShdw blurRad="152400" dist="50800" dir="5400000" algn="bl" rotWithShape="0">
              <a:srgbClr val="1B2340">
                <a:alpha val="18000"/>
              </a:srgbClr>
            </a:outerShdw>
          </a:effectLst>
        </p:spPr>
      </p:sp>
      <p:pic>
        <p:nvPicPr>
          <p:cNvPr id="4" name="Image 0" descr="/home/claude/ppt/icons/rocket_navy.png"/>
          <p:cNvPicPr>
            <a:picLocks noChangeAspect="1"/>
          </p:cNvPicPr>
          <p:nvPr/>
        </p:nvPicPr>
        <p:blipFill>
          <a:blip r:embed="rId3"/>
          <a:stretch>
            <a:fillRect/>
          </a:stretch>
        </p:blipFill>
        <p:spPr>
          <a:xfrm>
            <a:off x="1044245" y="1410005"/>
            <a:ext cx="563270" cy="563270"/>
          </a:xfrm>
          <a:prstGeom prst="rect">
            <a:avLst/>
          </a:prstGeom>
        </p:spPr>
      </p:pic>
      <p:sp>
        <p:nvSpPr>
          <p:cNvPr id="5" name="Text 2"/>
          <p:cNvSpPr/>
          <p:nvPr/>
        </p:nvSpPr>
        <p:spPr>
          <a:xfrm>
            <a:off x="822960" y="2377440"/>
            <a:ext cx="10058400" cy="1645920"/>
          </a:xfrm>
          <a:prstGeom prst="rect">
            <a:avLst/>
          </a:prstGeom>
          <a:noFill/>
          <a:ln/>
        </p:spPr>
        <p:txBody>
          <a:bodyPr wrap="square" rtlCol="0" anchor="ctr"/>
          <a:lstStyle/>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Une brique technique.
</a:t>
            </a:r>
            <a:r>
              <a:rPr lang="en-US" sz="3800" b="1" dirty="0">
                <a:solidFill>
                  <a:srgbClr val="8E7CC3"/>
                </a:solidFill>
                <a:latin typeface="Cambria" pitchFamily="34" charset="0"/>
                <a:ea typeface="Cambria" pitchFamily="34" charset="-122"/>
                <a:cs typeface="Cambria" pitchFamily="34" charset="-120"/>
              </a:rPr>
              <a:t>Une souveraineté numérique.</a:t>
            </a:r>
            <a:endParaRPr lang="en-US" sz="3800" dirty="0"/>
          </a:p>
        </p:txBody>
      </p:sp>
      <p:sp>
        <p:nvSpPr>
          <p:cNvPr id="6" name="Text 3"/>
          <p:cNvSpPr/>
          <p:nvPr/>
        </p:nvSpPr>
        <p:spPr>
          <a:xfrm>
            <a:off x="822960" y="4206240"/>
            <a:ext cx="9509760" cy="914400"/>
          </a:xfrm>
          <a:prstGeom prst="rect">
            <a:avLst/>
          </a:prstGeom>
          <a:noFill/>
          <a:ln/>
        </p:spPr>
        <p:txBody>
          <a:bodyPr wrap="square" rtlCol="0" anchor="ctr"/>
          <a:lstStyle/>
          <a:p>
            <a:pPr marL="0" indent="0">
              <a:lnSpc>
                <a:spcPts val="2000"/>
              </a:lnSpc>
              <a:buNone/>
            </a:pPr>
            <a:r>
              <a:rPr lang="en-US" sz="1500" i="1" dirty="0">
                <a:solidFill>
                  <a:srgbClr val="CADCFC"/>
                </a:solidFill>
                <a:latin typeface="Calibri" pitchFamily="34" charset="0"/>
                <a:ea typeface="Calibri" pitchFamily="34" charset="-122"/>
                <a:cs typeface="Calibri" pitchFamily="34" charset="-120"/>
              </a:rPr>
              <a:t>En nous appuyant sur une littérature scientifique rigoureuse et une lecture honnête des limites locales, nous proposons une preuve de concept prête à </a:t>
            </a:r>
            <a:r>
              <a:rPr lang="en-US" sz="1500" i="1" dirty="0" err="1">
                <a:solidFill>
                  <a:srgbClr val="CADCFC"/>
                </a:solidFill>
                <a:latin typeface="Calibri" pitchFamily="34" charset="0"/>
                <a:ea typeface="Calibri" pitchFamily="34" charset="-122"/>
                <a:cs typeface="Calibri" pitchFamily="34" charset="-120"/>
              </a:rPr>
              <a:t>être</a:t>
            </a:r>
            <a:r>
              <a:rPr lang="en-US" sz="1500" i="1" dirty="0">
                <a:solidFill>
                  <a:srgbClr val="CADCFC"/>
                </a:solidFill>
                <a:latin typeface="Calibri" pitchFamily="34" charset="0"/>
                <a:ea typeface="Calibri" pitchFamily="34" charset="-122"/>
                <a:cs typeface="Calibri" pitchFamily="34" charset="-120"/>
              </a:rPr>
              <a:t> </a:t>
            </a:r>
            <a:r>
              <a:rPr lang="en-US" sz="1500" i="1" dirty="0" err="1">
                <a:solidFill>
                  <a:srgbClr val="CADCFC"/>
                </a:solidFill>
                <a:latin typeface="Calibri" pitchFamily="34" charset="0"/>
                <a:ea typeface="Calibri" pitchFamily="34" charset="-122"/>
                <a:cs typeface="Calibri" pitchFamily="34" charset="-120"/>
              </a:rPr>
              <a:t>testée</a:t>
            </a:r>
            <a:r>
              <a:rPr lang="en-US" sz="1500" i="1" dirty="0">
                <a:solidFill>
                  <a:srgbClr val="CADCFC"/>
                </a:solidFill>
                <a:latin typeface="Calibri" pitchFamily="34" charset="0"/>
                <a:ea typeface="Calibri" pitchFamily="34" charset="-122"/>
                <a:cs typeface="Calibri" pitchFamily="34" charset="-120"/>
              </a:rPr>
              <a:t> pas une promesse importée.</a:t>
            </a:r>
            <a:endParaRPr lang="en-US" sz="1500" dirty="0"/>
          </a:p>
        </p:txBody>
      </p:sp>
      <p:sp>
        <p:nvSpPr>
          <p:cNvPr id="7" name="Shape 4"/>
          <p:cNvSpPr/>
          <p:nvPr/>
        </p:nvSpPr>
        <p:spPr>
          <a:xfrm>
            <a:off x="822960" y="5532120"/>
            <a:ext cx="2011680" cy="0"/>
          </a:xfrm>
          <a:prstGeom prst="line">
            <a:avLst/>
          </a:prstGeom>
          <a:noFill/>
          <a:ln w="19050">
            <a:solidFill>
              <a:srgbClr val="3A4676"/>
            </a:solidFill>
            <a:prstDash val="solid"/>
          </a:ln>
        </p:spPr>
      </p:sp>
      <p:sp>
        <p:nvSpPr>
          <p:cNvPr id="8" name="Text 5"/>
          <p:cNvSpPr/>
          <p:nvPr/>
        </p:nvSpPr>
        <p:spPr>
          <a:xfrm>
            <a:off x="822960" y="5669280"/>
            <a:ext cx="731520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Merci ! questions bienvenues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1143</Words>
  <Application>Microsoft Office PowerPoint</Application>
  <PresentationFormat>Grand écran</PresentationFormat>
  <Paragraphs>106</Paragraphs>
  <Slides>9</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Omotola AFOUDA</cp:lastModifiedBy>
  <cp:revision>3</cp:revision>
  <dcterms:created xsi:type="dcterms:W3CDTF">2026-07-24T08:06:07Z</dcterms:created>
  <dcterms:modified xsi:type="dcterms:W3CDTF">2026-07-24T10:38:52Z</dcterms:modified>
</cp:coreProperties>
</file>